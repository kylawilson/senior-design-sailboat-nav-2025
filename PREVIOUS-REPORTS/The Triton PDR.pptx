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Average"/>
      <p:regular r:id="rId27"/>
    </p:embeddedFont>
    <p:embeddedFont>
      <p:font typeface="Helvetica Neue"/>
      <p:regular r:id="rId28"/>
      <p:bold r:id="rId29"/>
      <p:italic r:id="rId30"/>
      <p:boldItalic r:id="rId31"/>
    </p:embeddedFont>
    <p:embeddedFont>
      <p:font typeface="Oswa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Leyandra Burke"/>
  <p:cmAuthor clrIdx="1" id="1" initials="" lastIdx="1" name="Kyla Wils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HelveticaNeue-regular.fntdata"/><Relationship Id="rId27" Type="http://schemas.openxmlformats.org/officeDocument/2006/relationships/font" Target="fonts/Averag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5.xml"/><Relationship Id="rId33" Type="http://schemas.openxmlformats.org/officeDocument/2006/relationships/font" Target="fonts/Oswald-bold.fntdata"/><Relationship Id="rId10" Type="http://schemas.openxmlformats.org/officeDocument/2006/relationships/slide" Target="slides/slide4.xml"/><Relationship Id="rId32" Type="http://schemas.openxmlformats.org/officeDocument/2006/relationships/font" Target="fonts/Oswald-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02T23:05:01.004">
    <p:pos x="86" y="589"/>
    <p:text>I like this one</p:text>
  </p:cm>
  <p:cm authorId="1" idx="1" dt="2024-12-02T23:05:01.004">
    <p:pos x="86" y="589"/>
    <p:text>same! Thank you @kconn7@bu.edu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1b815d80e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1b815d80e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Diego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a4b07392d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1a4b07392d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Matthew</a:t>
            </a:r>
            <a:endParaRPr/>
          </a:p>
          <a:p>
            <a:pPr indent="0" lvl="0" marL="0" rtl="0" algn="l">
              <a:spcBef>
                <a:spcPts val="0"/>
              </a:spcBef>
              <a:spcAft>
                <a:spcPts val="0"/>
              </a:spcAft>
              <a:buNone/>
            </a:pPr>
            <a:r>
              <a:rPr lang="en"/>
              <a:t>Refine</a:t>
            </a:r>
            <a:endParaRPr/>
          </a:p>
          <a:p>
            <a:pPr indent="0" lvl="0" marL="0" rtl="0" algn="l">
              <a:spcBef>
                <a:spcPts val="0"/>
              </a:spcBef>
              <a:spcAft>
                <a:spcPts val="0"/>
              </a:spcAft>
              <a:buNone/>
            </a:pPr>
            <a:r>
              <a:rPr lang="en"/>
              <a:t>From Matthew: Made it more concise and more </a:t>
            </a:r>
            <a:r>
              <a:rPr lang="en"/>
              <a:t>relevant</a:t>
            </a:r>
            <a:r>
              <a:rPr lang="en"/>
              <a:t> to the current iteration of product.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a4b07392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a4b07392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Diego</a:t>
            </a:r>
            <a:endParaRPr/>
          </a:p>
          <a:p>
            <a:pPr indent="0" lvl="0" marL="0" rtl="0" algn="l">
              <a:spcBef>
                <a:spcPts val="0"/>
              </a:spcBef>
              <a:spcAft>
                <a:spcPts val="0"/>
              </a:spcAft>
              <a:buNone/>
            </a:pPr>
            <a:r>
              <a:rPr lang="en"/>
              <a:t>Refine</a:t>
            </a:r>
            <a:endParaRPr/>
          </a:p>
          <a:p>
            <a:pPr indent="0" lvl="0" marL="0" rtl="0" algn="l">
              <a:spcBef>
                <a:spcPts val="0"/>
              </a:spcBef>
              <a:spcAft>
                <a:spcPts val="0"/>
              </a:spcAft>
              <a:buNone/>
            </a:pPr>
            <a:r>
              <a:rPr lang="en"/>
              <a:t>Matthew: Looks good?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a4b07392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1a4b07392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Diego</a:t>
            </a:r>
            <a:endParaRPr/>
          </a:p>
          <a:p>
            <a:pPr indent="0" lvl="0" marL="0" rtl="0" algn="l">
              <a:spcBef>
                <a:spcPts val="0"/>
              </a:spcBef>
              <a:spcAft>
                <a:spcPts val="0"/>
              </a:spcAft>
              <a:buNone/>
            </a:pPr>
            <a:r>
              <a:rPr lang="en"/>
              <a:t>Refine and update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b14f8c8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b14f8c8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Speaker:Kevin</a:t>
            </a:r>
            <a:endParaRPr>
              <a:solidFill>
                <a:schemeClr val="dk1"/>
              </a:solidFill>
            </a:endParaRPr>
          </a:p>
          <a:p>
            <a:pPr indent="0" lvl="0" marL="0" rtl="0" algn="l">
              <a:spcBef>
                <a:spcPts val="0"/>
              </a:spcBef>
              <a:spcAft>
                <a:spcPts val="0"/>
              </a:spcAft>
              <a:buNone/>
            </a:pPr>
            <a:r>
              <a:rPr lang="en">
                <a:solidFill>
                  <a:schemeClr val="dk1"/>
                </a:solidFill>
              </a:rPr>
              <a:t>Needs to be Updated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Change Radar/Nav to GPS/SOG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Take SOG out of Wind, SOG, SOW block</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does docking system mean?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Change Data sent to main system to Data sent to Raspberry Pi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b5de19600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b5de19600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b5de19600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1b5de19600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Kyla </a:t>
            </a:r>
            <a:br>
              <a:rPr lang="en"/>
            </a:br>
            <a:endParaRPr/>
          </a:p>
          <a:p>
            <a:pPr indent="0" lvl="0" marL="0" rtl="0" algn="l">
              <a:spcBef>
                <a:spcPts val="0"/>
              </a:spcBef>
              <a:spcAft>
                <a:spcPts val="0"/>
              </a:spcAft>
              <a:buNone/>
            </a:pPr>
            <a:r>
              <a:rPr lang="en"/>
              <a:t>This is our iOS app connection</a:t>
            </a:r>
            <a:br>
              <a:rPr lang="en"/>
            </a:br>
            <a:r>
              <a:rPr lang="en"/>
              <a:t>Used CoreBluetooth to build out the Bluetooth functionality of the App (Framework provided by Apple)</a:t>
            </a:r>
            <a:endParaRPr/>
          </a:p>
          <a:p>
            <a:pPr indent="-298450" lvl="0" marL="457200" rtl="0" algn="l">
              <a:spcBef>
                <a:spcPts val="0"/>
              </a:spcBef>
              <a:spcAft>
                <a:spcPts val="0"/>
              </a:spcAft>
              <a:buSzPts val="1100"/>
              <a:buChar char="-"/>
            </a:pPr>
            <a:r>
              <a:rPr lang="en"/>
              <a:t>When you open the app, it will automatically start scanning for the Triton</a:t>
            </a:r>
            <a:endParaRPr/>
          </a:p>
          <a:p>
            <a:pPr indent="-298450" lvl="1" marL="914400" rtl="0" algn="l">
              <a:spcBef>
                <a:spcPts val="0"/>
              </a:spcBef>
              <a:spcAft>
                <a:spcPts val="0"/>
              </a:spcAft>
              <a:buSzPts val="1100"/>
              <a:buChar char="-"/>
            </a:pPr>
            <a:r>
              <a:rPr lang="en"/>
              <a:t>Scans for a custom 16-bit advertising UUID</a:t>
            </a:r>
            <a:endParaRPr/>
          </a:p>
          <a:p>
            <a:pPr indent="-298450" lvl="0" marL="457200" rtl="0" algn="l">
              <a:spcBef>
                <a:spcPts val="0"/>
              </a:spcBef>
              <a:spcAft>
                <a:spcPts val="0"/>
              </a:spcAft>
              <a:buSzPts val="1100"/>
              <a:buChar char="-"/>
            </a:pPr>
            <a:r>
              <a:rPr lang="en"/>
              <a:t>Once triton is discovered, it will auto-connect to the device</a:t>
            </a:r>
            <a:endParaRPr/>
          </a:p>
          <a:p>
            <a:pPr indent="-298450" lvl="0" marL="457200" rtl="0" algn="l">
              <a:spcBef>
                <a:spcPts val="0"/>
              </a:spcBef>
              <a:spcAft>
                <a:spcPts val="0"/>
              </a:spcAft>
              <a:buSzPts val="1100"/>
              <a:buChar char="-"/>
            </a:pPr>
            <a:r>
              <a:rPr lang="en"/>
              <a:t>Once connected, the app will discover the services hosted on the Triton’s GATT server</a:t>
            </a:r>
            <a:endParaRPr/>
          </a:p>
          <a:p>
            <a:pPr indent="-298450" lvl="0" marL="457200" rtl="0" algn="l">
              <a:spcBef>
                <a:spcPts val="0"/>
              </a:spcBef>
              <a:spcAft>
                <a:spcPts val="0"/>
              </a:spcAft>
              <a:buSzPts val="1100"/>
              <a:buChar char="-"/>
            </a:pPr>
            <a:r>
              <a:rPr lang="en"/>
              <a:t>Once the services are discovered, it will go through each service and discover the service’s characteristics</a:t>
            </a:r>
            <a:endParaRPr/>
          </a:p>
          <a:p>
            <a:pPr indent="-298450" lvl="0" marL="457200" rtl="0" algn="l">
              <a:spcBef>
                <a:spcPts val="0"/>
              </a:spcBef>
              <a:spcAft>
                <a:spcPts val="0"/>
              </a:spcAft>
              <a:buSzPts val="1100"/>
              <a:buChar char="-"/>
            </a:pPr>
            <a:r>
              <a:rPr lang="en"/>
              <a:t>While it is discovering characteristics, it will compare the UUIDs of the characteristics to a predetermined list of characteristics we’re looking for. If the UUID matches one of the characteristics we’re looking for, then we’ll subscribe to notifications on thar characteristic</a:t>
            </a:r>
            <a:endParaRPr/>
          </a:p>
          <a:p>
            <a:pPr indent="-298450" lvl="0" marL="457200" rtl="0" algn="l">
              <a:spcBef>
                <a:spcPts val="0"/>
              </a:spcBef>
              <a:spcAft>
                <a:spcPts val="0"/>
              </a:spcAft>
              <a:buSzPts val="1100"/>
              <a:buChar char="-"/>
            </a:pPr>
            <a:r>
              <a:rPr lang="en"/>
              <a:t>From here, if the value of the characteristic updates on the Triton, then the iOS app will be notified and will update the UI with the corresponding values as soon as the notification is received</a:t>
            </a:r>
            <a:br>
              <a:rPr lang="en"/>
            </a:br>
            <a:br>
              <a:rPr lang="en"/>
            </a:br>
            <a:r>
              <a:rPr lang="en"/>
              <a:t>iOS app is the GAP (generic access profile) central and the GATT (generic attribute profile) client</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1b5de19600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1b5de19600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Kyla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This is our Triton connection</a:t>
            </a:r>
            <a:br>
              <a:rPr lang="en">
                <a:solidFill>
                  <a:schemeClr val="dk1"/>
                </a:solidFill>
              </a:rPr>
            </a:br>
            <a:r>
              <a:rPr lang="en">
                <a:solidFill>
                  <a:schemeClr val="dk1"/>
                </a:solidFill>
              </a:rPr>
              <a:t>Used Bluez (Linux BT Protocol Stack) to build out the bluetooth functionality of the Triton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When the Triton is on and running the python script, it will initialize and register the gatt services and characteristics that the iOS app will discover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triton then begins advertising the UUID designated for advertising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Once triton is discovered, it will auto-connect to the device and stop advertising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When the app initiates the connection, the Triton will connect to the iOS app</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iOS app will then discover the Triton’s services and characteristics (this can only happen after the two are connected)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iOS app will then subscribe to notifications on each of the characteristics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new data is received for the characteristic values, then the value of the characteristic will be updated and the iOS app will be notified</a:t>
            </a:r>
            <a:br>
              <a:rPr lang="en">
                <a:solidFill>
                  <a:schemeClr val="dk1"/>
                </a:solidFill>
              </a:rPr>
            </a:br>
            <a:br>
              <a:rPr lang="en">
                <a:solidFill>
                  <a:schemeClr val="dk1"/>
                </a:solidFill>
              </a:rPr>
            </a:br>
            <a:r>
              <a:rPr lang="en">
                <a:solidFill>
                  <a:schemeClr val="dk1"/>
                </a:solidFill>
              </a:rPr>
              <a:t>Triton/RPi app is the GAP (generic access profile) peripheral and the GATT (generic attribute profile) server</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b5de1960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1b5de1960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Kyla</a:t>
            </a:r>
            <a:br>
              <a:rPr lang="en"/>
            </a:br>
            <a:endParaRPr/>
          </a:p>
          <a:p>
            <a:pPr indent="0" lvl="0" marL="0" rtl="0" algn="l">
              <a:spcBef>
                <a:spcPts val="0"/>
              </a:spcBef>
              <a:spcAft>
                <a:spcPts val="0"/>
              </a:spcAft>
              <a:buNone/>
            </a:pPr>
            <a:r>
              <a:rPr lang="en"/>
              <a:t>App interface once the Triton has connected to the iOS app and is sending GPS data</a:t>
            </a:r>
            <a:br>
              <a:rPr lang="en"/>
            </a:br>
            <a:br>
              <a:rPr lang="en"/>
            </a:br>
            <a:r>
              <a:rPr lang="en"/>
              <a:t>Created using SwiftUI</a:t>
            </a:r>
            <a:endParaRPr/>
          </a:p>
          <a:p>
            <a:pPr indent="0" lvl="0" marL="0" rtl="0" algn="l">
              <a:spcBef>
                <a:spcPts val="0"/>
              </a:spcBef>
              <a:spcAft>
                <a:spcPts val="0"/>
              </a:spcAft>
              <a:buNone/>
            </a:pPr>
            <a:r>
              <a:rPr lang="en"/>
              <a:t>Buttons</a:t>
            </a:r>
            <a:endParaRPr/>
          </a:p>
          <a:p>
            <a:pPr indent="0" lvl="0" marL="0" rtl="0" algn="l">
              <a:spcBef>
                <a:spcPts val="0"/>
              </a:spcBef>
              <a:spcAft>
                <a:spcPts val="0"/>
              </a:spcAft>
              <a:buNone/>
            </a:pPr>
            <a:r>
              <a:rPr lang="en"/>
              <a:t>Tiles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b5de19600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b5de19600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chemeClr val="dk1"/>
                </a:solidFill>
              </a:rPr>
              <a:t>Speaker: Leyandra</a:t>
            </a:r>
            <a:br>
              <a:rPr lang="en">
                <a:solidFill>
                  <a:schemeClr val="dk1"/>
                </a:solidFill>
              </a:rPr>
            </a:br>
            <a:br>
              <a:rPr lang="en">
                <a:solidFill>
                  <a:schemeClr val="dk1"/>
                </a:solidFill>
              </a:rPr>
            </a:br>
            <a:r>
              <a:rPr lang="en">
                <a:solidFill>
                  <a:schemeClr val="dk1"/>
                </a:solidFill>
              </a:rPr>
              <a:t>GPS Module: Sends data to the Raspberry Pi through wired connections then Raspberry Pi sends the data from the module to the app. The data sent includes the UTC time, current date, latitude, longitude, altitude, speed over ground, and course over ground.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1b5de19600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1b5de19600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Speaker: Kevin</a:t>
            </a:r>
            <a:endParaRPr>
              <a:solidFill>
                <a:schemeClr val="dk1"/>
              </a:solidFill>
            </a:endParaRPr>
          </a:p>
          <a:p>
            <a:pPr indent="0" lvl="0" marL="0" rtl="0" algn="l">
              <a:spcBef>
                <a:spcPts val="0"/>
              </a:spcBef>
              <a:spcAft>
                <a:spcPts val="0"/>
              </a:spcAft>
              <a:buNone/>
            </a:pPr>
            <a:br>
              <a:rPr lang="en">
                <a:solidFill>
                  <a:schemeClr val="dk1"/>
                </a:solidFill>
              </a:rPr>
            </a:br>
            <a:r>
              <a:rPr lang="en">
                <a:solidFill>
                  <a:schemeClr val="dk1"/>
                </a:solidFill>
              </a:rPr>
              <a:t>OAK-D Camera: The camera is directly connected to the Raspberry Pi, which will send object detection data to the phone as well as a live photo on an interval</a:t>
            </a:r>
            <a:br>
              <a:rPr lang="en">
                <a:solidFill>
                  <a:schemeClr val="dk1"/>
                </a:solidFill>
              </a:rPr>
            </a:br>
            <a:br>
              <a:rPr lang="en">
                <a:solidFill>
                  <a:schemeClr val="dk1"/>
                </a:solidFill>
              </a:rPr>
            </a:b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b815d80e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b815d80e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Kevin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b5de19600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b5de19600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chemeClr val="dk1"/>
                </a:solidFill>
              </a:rPr>
              <a:t>Speaker: Ley</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b5de19600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b5de19600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Speaker: Kyla</a:t>
            </a:r>
            <a:br>
              <a:rPr lang="en">
                <a:solidFill>
                  <a:schemeClr val="dk1"/>
                </a:solidFill>
              </a:rPr>
            </a:br>
            <a:br>
              <a:rPr lang="en">
                <a:solidFill>
                  <a:schemeClr val="dk1"/>
                </a:solidFill>
              </a:rPr>
            </a:br>
            <a:r>
              <a:rPr lang="en">
                <a:solidFill>
                  <a:schemeClr val="dk1"/>
                </a:solidFill>
              </a:rPr>
              <a:t>In order to enable depth perception on either side of the sailboat, we will mount a stereo camera on the widest part of the sailboat on starboard and port. We will use 4 raspberry pi cameras, 2 stereopis, and 2 </a:t>
            </a:r>
            <a:r>
              <a:rPr lang="en">
                <a:solidFill>
                  <a:schemeClr val="dk1"/>
                </a:solidFill>
              </a:rPr>
              <a:t>raspberry</a:t>
            </a:r>
            <a:r>
              <a:rPr lang="en">
                <a:solidFill>
                  <a:schemeClr val="dk1"/>
                </a:solidFill>
              </a:rPr>
              <a:t> pi compute module 4s to enable 2 stereo cameras that will alert the user if there are objects too close to the boat. We’ll use OpenCV to create the depth map</a:t>
            </a:r>
            <a:br>
              <a:rPr lang="en">
                <a:solidFill>
                  <a:schemeClr val="dk1"/>
                </a:solidFill>
              </a:rPr>
            </a:br>
            <a:br>
              <a:rPr lang="en">
                <a:solidFill>
                  <a:schemeClr val="dk1"/>
                </a:solidFill>
              </a:rPr>
            </a:br>
            <a:r>
              <a:rPr lang="en">
                <a:solidFill>
                  <a:schemeClr val="dk1"/>
                </a:solidFill>
              </a:rPr>
              <a:t>The CM4 supports Bluetooth 5.0, so we will utilize the CM4 to offload information gathered from the stereo cameras to the central module (RPi 3b) which will then be offloaded to the phone. We’ve also considered offloading directly to the iPhone</a:t>
            </a:r>
            <a:br>
              <a:rPr lang="en">
                <a:solidFill>
                  <a:schemeClr val="dk1"/>
                </a:solidFill>
              </a:rPr>
            </a:br>
            <a:br>
              <a:rPr lang="en">
                <a:solidFill>
                  <a:schemeClr val="dk1"/>
                </a:solidFill>
              </a:rPr>
            </a:br>
            <a:r>
              <a:rPr lang="en">
                <a:solidFill>
                  <a:schemeClr val="dk1"/>
                </a:solidFill>
              </a:rPr>
              <a:t>Essentially should function like the Oak-D, but without object detection</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Why offload to central module before the iPhone? </a:t>
            </a:r>
            <a:br>
              <a:rPr lang="en">
                <a:solidFill>
                  <a:schemeClr val="dk1"/>
                </a:solidFill>
              </a:rPr>
            </a:br>
            <a:br>
              <a:rPr lang="en">
                <a:solidFill>
                  <a:schemeClr val="dk1"/>
                </a:solidFill>
              </a:rPr>
            </a:br>
            <a:r>
              <a:rPr lang="en">
                <a:solidFill>
                  <a:schemeClr val="dk1"/>
                </a:solidFill>
              </a:rPr>
              <a:t>Stereo Cameras: These side cameras will send object detection data to the phone through their respective Pis over bluetooth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b5de19600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b5de19600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Speaker: Matt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br>
              <a:rPr lang="en">
                <a:solidFill>
                  <a:schemeClr val="dk1"/>
                </a:solidFill>
              </a:rPr>
            </a:br>
            <a:r>
              <a:rPr lang="en">
                <a:solidFill>
                  <a:schemeClr val="dk1"/>
                </a:solidFill>
              </a:rPr>
              <a:t>Include: </a:t>
            </a:r>
            <a:br>
              <a:rPr lang="en">
                <a:solidFill>
                  <a:schemeClr val="dk1"/>
                </a:solidFill>
              </a:rPr>
            </a:br>
            <a:r>
              <a:rPr lang="en">
                <a:solidFill>
                  <a:schemeClr val="dk1"/>
                </a:solidFill>
              </a:rPr>
              <a:t>Why speed through water is important</a:t>
            </a:r>
            <a:br>
              <a:rPr lang="en">
                <a:solidFill>
                  <a:schemeClr val="dk1"/>
                </a:solidFill>
              </a:rPr>
            </a:br>
            <a:r>
              <a:rPr lang="en">
                <a:solidFill>
                  <a:schemeClr val="dk1"/>
                </a:solidFill>
              </a:rPr>
              <a:t>Current ideas we have for measuring speed through water</a:t>
            </a:r>
            <a:br>
              <a:rPr lang="en">
                <a:solidFill>
                  <a:schemeClr val="dk1"/>
                </a:solidFill>
              </a:rPr>
            </a:br>
            <a:r>
              <a:rPr lang="en">
                <a:solidFill>
                  <a:schemeClr val="dk1"/>
                </a:solidFill>
              </a:rPr>
              <a:t>Pros and cons of each?</a:t>
            </a:r>
            <a:br>
              <a:rPr lang="en">
                <a:solidFill>
                  <a:schemeClr val="dk1"/>
                </a:solidFill>
              </a:rPr>
            </a:b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a4b07392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1a4b07392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Kyla (left), Kevin (right)</a:t>
            </a:r>
            <a:endParaRPr/>
          </a:p>
          <a:p>
            <a:pPr indent="0" lvl="0" marL="0" rtl="0" algn="l">
              <a:spcBef>
                <a:spcPts val="0"/>
              </a:spcBef>
              <a:spcAft>
                <a:spcPts val="0"/>
              </a:spcAft>
              <a:buNone/>
            </a:pPr>
            <a:r>
              <a:rPr lang="en"/>
              <a:t>Insert Video, Photos, Drawings</a:t>
            </a:r>
            <a:endParaRPr/>
          </a:p>
          <a:p>
            <a:pPr indent="0" lvl="0" marL="0" rtl="0" algn="l">
              <a:spcBef>
                <a:spcPts val="0"/>
              </a:spcBef>
              <a:spcAft>
                <a:spcPts val="0"/>
              </a:spcAft>
              <a:buNone/>
            </a:pPr>
            <a:r>
              <a:rPr lang="en"/>
              <a:t>MattG: Best photo/video would be a demonstration of the OAK-D camera. Maybe also the app but it only shows the GPS so not exactly the flashiest thing.</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b5de19600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b5de19600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Speaker: Matt</a:t>
            </a:r>
            <a:br>
              <a:rPr lang="en">
                <a:solidFill>
                  <a:schemeClr val="dk1"/>
                </a:solidFill>
              </a:rPr>
            </a:br>
            <a:r>
              <a:rPr lang="en">
                <a:solidFill>
                  <a:schemeClr val="dk1"/>
                </a:solidFill>
              </a:rPr>
              <a:t>Anemometer: Sends data to the Raspberry Pi through wired connections, which is then sent to the application. The data sent includes wind speed and direction</a:t>
            </a:r>
            <a:br>
              <a:rPr lang="en">
                <a:solidFill>
                  <a:schemeClr val="dk1"/>
                </a:solidFill>
              </a:rPr>
            </a:br>
            <a:br>
              <a:rPr lang="en">
                <a:solidFill>
                  <a:schemeClr val="dk1"/>
                </a:solidFill>
              </a:rPr>
            </a:br>
            <a:r>
              <a:rPr lang="en">
                <a:solidFill>
                  <a:schemeClr val="dk1"/>
                </a:solidFill>
              </a:rPr>
              <a:t>Include: </a:t>
            </a:r>
            <a:br>
              <a:rPr lang="en">
                <a:solidFill>
                  <a:schemeClr val="dk1"/>
                </a:solidFill>
              </a:rPr>
            </a:br>
            <a:r>
              <a:rPr lang="en">
                <a:solidFill>
                  <a:schemeClr val="dk1"/>
                </a:solidFill>
              </a:rPr>
              <a:t>Why anemometer(wind speed/wind direction) is important for our project</a:t>
            </a:r>
            <a:br>
              <a:rPr lang="en">
                <a:solidFill>
                  <a:schemeClr val="dk1"/>
                </a:solidFill>
              </a:rPr>
            </a:br>
            <a:r>
              <a:rPr lang="en">
                <a:solidFill>
                  <a:schemeClr val="dk1"/>
                </a:solidFill>
              </a:rPr>
              <a:t>Which anemometer module(s) we’re using and why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a4b07392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a4b07392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b815d80ea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b815d80ea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a:t>
            </a:r>
            <a:endParaRPr/>
          </a:p>
          <a:p>
            <a:pPr indent="0" lvl="0" marL="0" rtl="0" algn="l">
              <a:spcBef>
                <a:spcPts val="0"/>
              </a:spcBef>
              <a:spcAft>
                <a:spcPts val="0"/>
              </a:spcAft>
              <a:buNone/>
            </a:pPr>
            <a:r>
              <a:rPr lang="en"/>
              <a:t>We have a Gantt Chart But it needs to be detailed for next semester - Needs to be discussed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b5de19600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b5de19600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pictures from sailing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jpg"/><Relationship Id="rId4" Type="http://schemas.openxmlformats.org/officeDocument/2006/relationships/image" Target="../media/image19.png"/><Relationship Id="rId5"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drive.google.com/file/d/1xIWsQwSUBrpHFv3YZGQ8xjuZWRP9dLlN/view" TargetMode="External"/><Relationship Id="rId4" Type="http://schemas.openxmlformats.org/officeDocument/2006/relationships/image" Target="../media/image15.jpg"/><Relationship Id="rId5" Type="http://schemas.openxmlformats.org/officeDocument/2006/relationships/hyperlink" Target="http://drive.google.com/file/d/1xYhwpOLA-gbLkjOCA0EdScaXlJXoR02P/view" TargetMode="External"/><Relationship Id="rId6"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Triton Final Design Review</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Team 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400"/>
              </a:spcBef>
              <a:spcAft>
                <a:spcPts val="0"/>
              </a:spcAft>
              <a:buClr>
                <a:schemeClr val="dk1"/>
              </a:buClr>
              <a:buSzPts val="1800"/>
              <a:buFont typeface="Helvetica Neue"/>
              <a:buChar char="●"/>
            </a:pPr>
            <a:r>
              <a:rPr lang="en">
                <a:solidFill>
                  <a:schemeClr val="dk1"/>
                </a:solidFill>
                <a:latin typeface="Helvetica Neue"/>
                <a:ea typeface="Helvetica Neue"/>
                <a:cs typeface="Helvetica Neue"/>
                <a:sym typeface="Helvetica Neue"/>
              </a:rPr>
              <a:t>The Triton is a docking </a:t>
            </a:r>
            <a:r>
              <a:rPr lang="en">
                <a:solidFill>
                  <a:schemeClr val="dk1"/>
                </a:solidFill>
                <a:latin typeface="Helvetica Neue"/>
                <a:ea typeface="Helvetica Neue"/>
                <a:cs typeface="Helvetica Neue"/>
                <a:sym typeface="Helvetica Neue"/>
              </a:rPr>
              <a:t>assistant</a:t>
            </a:r>
            <a:r>
              <a:rPr lang="en">
                <a:solidFill>
                  <a:schemeClr val="dk1"/>
                </a:solidFill>
                <a:latin typeface="Helvetica Neue"/>
                <a:ea typeface="Helvetica Neue"/>
                <a:cs typeface="Helvetica Neue"/>
                <a:sym typeface="Helvetica Neue"/>
              </a:rPr>
              <a:t> which can also help </a:t>
            </a:r>
            <a:r>
              <a:rPr lang="en">
                <a:solidFill>
                  <a:schemeClr val="dk1"/>
                </a:solidFill>
                <a:latin typeface="Helvetica Neue"/>
                <a:ea typeface="Helvetica Neue"/>
                <a:cs typeface="Helvetica Neue"/>
                <a:sym typeface="Helvetica Neue"/>
              </a:rPr>
              <a:t>with</a:t>
            </a:r>
            <a:r>
              <a:rPr lang="en">
                <a:solidFill>
                  <a:schemeClr val="dk1"/>
                </a:solidFill>
                <a:latin typeface="Helvetica Neue"/>
                <a:ea typeface="Helvetica Neue"/>
                <a:cs typeface="Helvetica Neue"/>
                <a:sym typeface="Helvetica Neue"/>
              </a:rPr>
              <a:t> nautical </a:t>
            </a:r>
            <a:r>
              <a:rPr lang="en">
                <a:solidFill>
                  <a:schemeClr val="dk1"/>
                </a:solidFill>
                <a:latin typeface="Helvetica Neue"/>
                <a:ea typeface="Helvetica Neue"/>
                <a:cs typeface="Helvetica Neue"/>
                <a:sym typeface="Helvetica Neue"/>
              </a:rPr>
              <a:t>navigation</a:t>
            </a:r>
            <a:endParaRPr>
              <a:solidFill>
                <a:schemeClr val="dk1"/>
              </a:solidFill>
              <a:latin typeface="Helvetica Neue"/>
              <a:ea typeface="Helvetica Neue"/>
              <a:cs typeface="Helvetica Neue"/>
              <a:sym typeface="Helvetica Neue"/>
            </a:endParaRPr>
          </a:p>
          <a:p>
            <a:pPr indent="0" lvl="0" marL="0" rtl="0" algn="l">
              <a:lnSpc>
                <a:spcPct val="100000"/>
              </a:lnSpc>
              <a:spcBef>
                <a:spcPts val="400"/>
              </a:spcBef>
              <a:spcAft>
                <a:spcPts val="0"/>
              </a:spcAft>
              <a:buNone/>
            </a:pPr>
            <a:r>
              <a:t/>
            </a:r>
            <a:endParaRPr>
              <a:solidFill>
                <a:schemeClr val="dk1"/>
              </a:solidFill>
              <a:latin typeface="Helvetica Neue"/>
              <a:ea typeface="Helvetica Neue"/>
              <a:cs typeface="Helvetica Neue"/>
              <a:sym typeface="Helvetica Neue"/>
            </a:endParaRPr>
          </a:p>
          <a:p>
            <a:pPr indent="-342900" lvl="0" marL="457200" rtl="0" algn="l">
              <a:lnSpc>
                <a:spcPct val="100000"/>
              </a:lnSpc>
              <a:spcBef>
                <a:spcPts val="400"/>
              </a:spcBef>
              <a:spcAft>
                <a:spcPts val="0"/>
              </a:spcAft>
              <a:buClr>
                <a:schemeClr val="dk1"/>
              </a:buClr>
              <a:buSzPts val="1800"/>
              <a:buFont typeface="Helvetica Neue"/>
              <a:buChar char="●"/>
            </a:pPr>
            <a:r>
              <a:rPr lang="en">
                <a:solidFill>
                  <a:schemeClr val="dk1"/>
                </a:solidFill>
                <a:latin typeface="Helvetica Neue"/>
                <a:ea typeface="Helvetica Neue"/>
                <a:cs typeface="Helvetica Neue"/>
                <a:sym typeface="Helvetica Neue"/>
              </a:rPr>
              <a:t>Helps sailors of all skill </a:t>
            </a:r>
            <a:r>
              <a:rPr lang="en">
                <a:solidFill>
                  <a:schemeClr val="dk1"/>
                </a:solidFill>
                <a:latin typeface="Helvetica Neue"/>
                <a:ea typeface="Helvetica Neue"/>
                <a:cs typeface="Helvetica Neue"/>
                <a:sym typeface="Helvetica Neue"/>
              </a:rPr>
              <a:t>levels</a:t>
            </a:r>
            <a:r>
              <a:rPr lang="en">
                <a:solidFill>
                  <a:schemeClr val="dk1"/>
                </a:solidFill>
                <a:latin typeface="Helvetica Neue"/>
                <a:ea typeface="Helvetica Neue"/>
                <a:cs typeface="Helvetica Neue"/>
                <a:sym typeface="Helvetica Neue"/>
              </a:rPr>
              <a:t> to safely navigate and dock boats</a:t>
            </a:r>
            <a:endParaRPr>
              <a:solidFill>
                <a:schemeClr val="dk1"/>
              </a:solidFill>
              <a:latin typeface="Helvetica Neue"/>
              <a:ea typeface="Helvetica Neue"/>
              <a:cs typeface="Helvetica Neue"/>
              <a:sym typeface="Helvetica Neue"/>
            </a:endParaRPr>
          </a:p>
          <a:p>
            <a:pPr indent="0" lvl="0" marL="0" rtl="0" algn="l">
              <a:lnSpc>
                <a:spcPct val="100000"/>
              </a:lnSpc>
              <a:spcBef>
                <a:spcPts val="400"/>
              </a:spcBef>
              <a:spcAft>
                <a:spcPts val="0"/>
              </a:spcAft>
              <a:buNone/>
            </a:pPr>
            <a:r>
              <a:t/>
            </a:r>
            <a:endParaRPr>
              <a:solidFill>
                <a:schemeClr val="dk1"/>
              </a:solidFill>
              <a:latin typeface="Helvetica Neue"/>
              <a:ea typeface="Helvetica Neue"/>
              <a:cs typeface="Helvetica Neue"/>
              <a:sym typeface="Helvetica Neue"/>
            </a:endParaRPr>
          </a:p>
          <a:p>
            <a:pPr indent="-342900" lvl="0" marL="457200" rtl="0" algn="l">
              <a:lnSpc>
                <a:spcPct val="100000"/>
              </a:lnSpc>
              <a:spcBef>
                <a:spcPts val="400"/>
              </a:spcBef>
              <a:spcAft>
                <a:spcPts val="0"/>
              </a:spcAft>
              <a:buClr>
                <a:schemeClr val="dk1"/>
              </a:buClr>
              <a:buSzPts val="1800"/>
              <a:buFont typeface="Helvetica Neue"/>
              <a:buChar char="●"/>
            </a:pPr>
            <a:r>
              <a:rPr lang="en">
                <a:solidFill>
                  <a:schemeClr val="dk1"/>
                </a:solidFill>
                <a:latin typeface="Helvetica Neue"/>
                <a:ea typeface="Helvetica Neue"/>
                <a:cs typeface="Helvetica Neue"/>
                <a:sym typeface="Helvetica Neue"/>
              </a:rPr>
              <a:t>Designed to last long trips, and to withstand even the roughest conditions.</a:t>
            </a:r>
            <a:endParaRPr>
              <a:solidFill>
                <a:schemeClr val="dk1"/>
              </a:solidFill>
              <a:latin typeface="Helvetica Neue"/>
              <a:ea typeface="Helvetica Neue"/>
              <a:cs typeface="Helvetica Neue"/>
              <a:sym typeface="Helvetica Neue"/>
            </a:endParaRPr>
          </a:p>
          <a:p>
            <a:pPr indent="0" lvl="0" marL="0" rtl="0" algn="l">
              <a:lnSpc>
                <a:spcPct val="100000"/>
              </a:lnSpc>
              <a:spcBef>
                <a:spcPts val="400"/>
              </a:spcBef>
              <a:spcAft>
                <a:spcPts val="0"/>
              </a:spcAft>
              <a:buNone/>
            </a:pPr>
            <a:r>
              <a:t/>
            </a:r>
            <a:endParaRPr>
              <a:solidFill>
                <a:schemeClr val="dk1"/>
              </a:solidFill>
              <a:latin typeface="Helvetica Neue"/>
              <a:ea typeface="Helvetica Neue"/>
              <a:cs typeface="Helvetica Neue"/>
              <a:sym typeface="Helvetica Neue"/>
            </a:endParaRPr>
          </a:p>
          <a:p>
            <a:pPr indent="-342900" lvl="0" marL="457200" rtl="0" algn="l">
              <a:lnSpc>
                <a:spcPct val="100000"/>
              </a:lnSpc>
              <a:spcBef>
                <a:spcPts val="400"/>
              </a:spcBef>
              <a:spcAft>
                <a:spcPts val="0"/>
              </a:spcAft>
              <a:buClr>
                <a:schemeClr val="dk1"/>
              </a:buClr>
              <a:buSzPts val="1800"/>
              <a:buFont typeface="Helvetica Neue"/>
              <a:buChar char="●"/>
            </a:pPr>
            <a:r>
              <a:rPr lang="en">
                <a:solidFill>
                  <a:schemeClr val="dk1"/>
                </a:solidFill>
                <a:latin typeface="Helvetica Neue"/>
                <a:ea typeface="Helvetica Neue"/>
                <a:cs typeface="Helvetica Neue"/>
                <a:sym typeface="Helvetica Neue"/>
              </a:rPr>
              <a:t>Our product is integrated and multi-functional, cost-efficient, not specific to any vessel</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Sailing in a crowded harbor or racing alongside other boats in close proximity is </a:t>
            </a:r>
            <a:r>
              <a:rPr b="1" lang="en" sz="1600">
                <a:solidFill>
                  <a:schemeClr val="dk1"/>
                </a:solidFill>
                <a:latin typeface="Helvetica Neue"/>
                <a:ea typeface="Helvetica Neue"/>
                <a:cs typeface="Helvetica Neue"/>
                <a:sym typeface="Helvetica Neue"/>
              </a:rPr>
              <a:t>challenging</a:t>
            </a:r>
            <a:r>
              <a:rPr lang="en" sz="1600">
                <a:solidFill>
                  <a:schemeClr val="dk1"/>
                </a:solidFill>
                <a:latin typeface="Helvetica Neue"/>
                <a:ea typeface="Helvetica Neue"/>
                <a:cs typeface="Helvetica Neue"/>
                <a:sym typeface="Helvetica Neue"/>
              </a:rPr>
              <a:t>,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Skipper's field of view is</a:t>
            </a:r>
            <a:r>
              <a:rPr b="1" lang="en" sz="1600">
                <a:solidFill>
                  <a:schemeClr val="dk1"/>
                </a:solidFill>
                <a:latin typeface="Helvetica Neue"/>
                <a:ea typeface="Helvetica Neue"/>
                <a:cs typeface="Helvetica Neue"/>
                <a:sym typeface="Helvetica Neue"/>
              </a:rPr>
              <a:t> blocked</a:t>
            </a:r>
            <a:r>
              <a:rPr lang="en" sz="1600">
                <a:solidFill>
                  <a:schemeClr val="dk1"/>
                </a:solidFill>
                <a:latin typeface="Helvetica Neue"/>
                <a:ea typeface="Helvetica Neue"/>
                <a:cs typeface="Helvetica Neue"/>
                <a:sym typeface="Helvetica Neue"/>
              </a:rPr>
              <a:t> by the main and front sails,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Docking can be </a:t>
            </a:r>
            <a:r>
              <a:rPr b="1" lang="en" sz="1600">
                <a:solidFill>
                  <a:schemeClr val="dk1"/>
                </a:solidFill>
                <a:latin typeface="Helvetica Neue"/>
                <a:ea typeface="Helvetica Neue"/>
                <a:cs typeface="Helvetica Neue"/>
                <a:sym typeface="Helvetica Neue"/>
              </a:rPr>
              <a:t>difficult</a:t>
            </a:r>
            <a:r>
              <a:rPr lang="en" sz="1600">
                <a:solidFill>
                  <a:schemeClr val="dk1"/>
                </a:solidFill>
                <a:latin typeface="Helvetica Neue"/>
                <a:ea typeface="Helvetica Neue"/>
                <a:cs typeface="Helvetica Neue"/>
                <a:sym typeface="Helvetica Neue"/>
              </a:rPr>
              <a:t> and </a:t>
            </a:r>
            <a:r>
              <a:rPr b="1" lang="en" sz="1600">
                <a:solidFill>
                  <a:schemeClr val="dk1"/>
                </a:solidFill>
                <a:latin typeface="Helvetica Neue"/>
                <a:ea typeface="Helvetica Neue"/>
                <a:cs typeface="Helvetica Neue"/>
                <a:sym typeface="Helvetica Neue"/>
              </a:rPr>
              <a:t>dangerous</a:t>
            </a:r>
            <a:r>
              <a:rPr lang="en" sz="1600">
                <a:solidFill>
                  <a:schemeClr val="dk1"/>
                </a:solidFill>
                <a:latin typeface="Helvetica Neue"/>
                <a:ea typeface="Helvetica Neue"/>
                <a:cs typeface="Helvetica Neue"/>
                <a:sym typeface="Helvetica Neue"/>
              </a:rPr>
              <a:t> to the skipper, under many conditions, such as </a:t>
            </a:r>
            <a:r>
              <a:rPr b="1" lang="en" sz="1600">
                <a:solidFill>
                  <a:schemeClr val="dk1"/>
                </a:solidFill>
                <a:latin typeface="Helvetica Neue"/>
                <a:ea typeface="Helvetica Neue"/>
                <a:cs typeface="Helvetica Neue"/>
                <a:sym typeface="Helvetica Neue"/>
              </a:rPr>
              <a:t>unfavorable wind direction, current, or limited visibility</a:t>
            </a:r>
            <a:r>
              <a:rPr lang="en" sz="1600">
                <a:solidFill>
                  <a:schemeClr val="dk1"/>
                </a:solidFill>
                <a:latin typeface="Helvetica Neue"/>
                <a:ea typeface="Helvetica Neue"/>
                <a:cs typeface="Helvetica Neue"/>
                <a:sym typeface="Helvetica Neue"/>
              </a:rPr>
              <a:t>.</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In 2023 the United States Coast Guard reported that the top three causes for recreational boating accidents were </a:t>
            </a:r>
            <a:r>
              <a:rPr b="1" lang="en" sz="1600">
                <a:solidFill>
                  <a:schemeClr val="dk1"/>
                </a:solidFill>
                <a:latin typeface="Helvetica Neue"/>
                <a:ea typeface="Helvetica Neue"/>
                <a:cs typeface="Helvetica Neue"/>
                <a:sym typeface="Helvetica Neue"/>
              </a:rPr>
              <a:t>operator inattention, improper lookout, and operator inexperience</a:t>
            </a:r>
            <a:r>
              <a:rPr lang="en" sz="1600">
                <a:solidFill>
                  <a:schemeClr val="dk1"/>
                </a:solidFill>
                <a:latin typeface="Helvetica Neue"/>
                <a:ea typeface="Helvetica Neue"/>
                <a:cs typeface="Helvetica Neue"/>
                <a:sym typeface="Helvetica Neue"/>
              </a:rPr>
              <a:t>. </a:t>
            </a:r>
            <a:endParaRPr sz="1600">
              <a:solidFill>
                <a:schemeClr val="dk1"/>
              </a:solidFill>
              <a:latin typeface="Helvetica Neue"/>
              <a:ea typeface="Helvetica Neue"/>
              <a:cs typeface="Helvetica Neue"/>
              <a:sym typeface="Helvetica Neue"/>
            </a:endParaRPr>
          </a:p>
          <a:p>
            <a:pPr indent="-330200" lvl="0" marL="457200" rtl="0" algn="l">
              <a:lnSpc>
                <a:spcPct val="100000"/>
              </a:lnSpc>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Also in 2023, there were </a:t>
            </a:r>
            <a:r>
              <a:rPr b="1" lang="en" sz="1600">
                <a:solidFill>
                  <a:schemeClr val="dk1"/>
                </a:solidFill>
                <a:latin typeface="Helvetica Neue"/>
                <a:ea typeface="Helvetica Neue"/>
                <a:cs typeface="Helvetica Neue"/>
                <a:sym typeface="Helvetica Neue"/>
              </a:rPr>
              <a:t>564 deaths and 63 million dollars in damages</a:t>
            </a:r>
            <a:r>
              <a:rPr lang="en" sz="1600">
                <a:solidFill>
                  <a:schemeClr val="dk1"/>
                </a:solidFill>
                <a:latin typeface="Helvetica Neue"/>
                <a:ea typeface="Helvetica Neue"/>
                <a:cs typeface="Helvetica Neue"/>
                <a:sym typeface="Helvetica Neue"/>
              </a:rPr>
              <a:t> due to boating related accidents. </a:t>
            </a:r>
            <a:endParaRPr sz="1600">
              <a:solidFill>
                <a:schemeClr val="dk1"/>
              </a:solidFill>
              <a:latin typeface="Helvetica Neue"/>
              <a:ea typeface="Helvetica Neue"/>
              <a:cs typeface="Helvetica Neue"/>
              <a:sym typeface="Helvetica Neue"/>
            </a:endParaRPr>
          </a:p>
          <a:p>
            <a:pPr indent="-330200" lvl="0" marL="457200" rtl="0" algn="l">
              <a:lnSpc>
                <a:spcPct val="100000"/>
              </a:lnSpc>
              <a:spcBef>
                <a:spcPts val="0"/>
              </a:spcBef>
              <a:spcAft>
                <a:spcPts val="0"/>
              </a:spcAft>
              <a:buClr>
                <a:schemeClr val="dk1"/>
              </a:buClr>
              <a:buSzPts val="1600"/>
              <a:buFont typeface="Helvetica Neue"/>
              <a:buChar char="●"/>
            </a:pPr>
            <a:r>
              <a:rPr lang="en" sz="1600">
                <a:solidFill>
                  <a:schemeClr val="dk1"/>
                </a:solidFill>
                <a:latin typeface="Helvetica Neue"/>
                <a:ea typeface="Helvetica Neue"/>
                <a:cs typeface="Helvetica Neue"/>
                <a:sym typeface="Helvetica Neue"/>
              </a:rPr>
              <a:t>We want to fix this problem!</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Requirements</a:t>
            </a:r>
            <a:endParaRPr/>
          </a:p>
        </p:txBody>
      </p:sp>
      <p:sp>
        <p:nvSpPr>
          <p:cNvPr id="78" name="Google Shape;78;p16"/>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system will collect wind speed, speed over ground, and speed through water.</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sensors will send updates to the central processor at least every one (1) second while a trip is in progress.</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proximity cameras will detect obstacles between one (1) meter and twelve (12) meters away</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All physical components of the system, including housing, will weigh less than twenty-five (25) pounds in total.</a:t>
            </a:r>
            <a:endParaRPr sz="2000">
              <a:solidFill>
                <a:schemeClr val="dk1"/>
              </a:solidFill>
              <a:latin typeface="Helvetica Neue"/>
              <a:ea typeface="Helvetica Neue"/>
              <a:cs typeface="Helvetica Neue"/>
              <a:sym typeface="Helvetica Neue"/>
            </a:endParaRPr>
          </a:p>
        </p:txBody>
      </p:sp>
      <p:sp>
        <p:nvSpPr>
          <p:cNvPr id="79" name="Google Shape;79;p16"/>
          <p:cNvSpPr txBox="1"/>
          <p:nvPr>
            <p:ph idx="1" type="body"/>
          </p:nvPr>
        </p:nvSpPr>
        <p:spPr>
          <a:xfrm>
            <a:off x="4754800" y="1152475"/>
            <a:ext cx="4260300" cy="34164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battery for the system will last at least twelve (12) hours on a full charge.</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system will be easily mounted to any sailboat. It will have adjustable clamps to fit onto different parts of the boat.</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Weatherproof rating of at least IP68.</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system will be resistant to harsh weather conditions.</a:t>
            </a:r>
            <a:endParaRPr sz="1400">
              <a:solidFill>
                <a:schemeClr val="dk1"/>
              </a:solidFill>
              <a:latin typeface="Helvetica Neue"/>
              <a:ea typeface="Helvetica Neue"/>
              <a:cs typeface="Helvetica Neue"/>
              <a:sym typeface="Helvetica Neue"/>
            </a:endParaRPr>
          </a:p>
          <a:p>
            <a:pPr indent="-317500" lvl="0" marL="457200" rtl="0" algn="l">
              <a:lnSpc>
                <a:spcPct val="15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GPS accurate within twenty (20) meters.</a:t>
            </a:r>
            <a:endParaRPr sz="2000">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243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Block Diagram</a:t>
            </a:r>
            <a:endParaRPr/>
          </a:p>
        </p:txBody>
      </p:sp>
      <p:sp>
        <p:nvSpPr>
          <p:cNvPr id="85" name="Google Shape;85;p17"/>
          <p:cNvSpPr txBox="1"/>
          <p:nvPr>
            <p:ph idx="1" type="body"/>
          </p:nvPr>
        </p:nvSpPr>
        <p:spPr>
          <a:xfrm>
            <a:off x="4747075" y="1152475"/>
            <a:ext cx="40851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External sensors will relay data via Bluetooth to the Pi</a:t>
            </a:r>
            <a:endParaRPr sz="1400">
              <a:solidFill>
                <a:schemeClr val="dk1"/>
              </a:solidFill>
              <a:latin typeface="Helvetica Neue"/>
              <a:ea typeface="Helvetica Neue"/>
              <a:cs typeface="Helvetica Neue"/>
              <a:sym typeface="Helvetica Neue"/>
            </a:endParaRPr>
          </a:p>
          <a:p>
            <a:pPr indent="0" lvl="0" marL="0" rtl="0" algn="l">
              <a:spcBef>
                <a:spcPts val="1200"/>
              </a:spcBef>
              <a:spcAft>
                <a:spcPts val="0"/>
              </a:spcAft>
              <a:buNone/>
            </a:pPr>
            <a:r>
              <a:t/>
            </a:r>
            <a:endParaRPr sz="1400">
              <a:solidFill>
                <a:schemeClr val="dk1"/>
              </a:solidFill>
              <a:latin typeface="Helvetica Neue"/>
              <a:ea typeface="Helvetica Neue"/>
              <a:cs typeface="Helvetica Neue"/>
              <a:sym typeface="Helvetica Neue"/>
            </a:endParaRPr>
          </a:p>
          <a:p>
            <a:pPr indent="-317500" lvl="0" marL="457200" rtl="0" algn="l">
              <a:spcBef>
                <a:spcPts val="120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Pi will then process the relevant data and send warnings and adjustments</a:t>
            </a:r>
            <a:endParaRPr sz="1400">
              <a:solidFill>
                <a:schemeClr val="dk1"/>
              </a:solidFill>
              <a:latin typeface="Helvetica Neue"/>
              <a:ea typeface="Helvetica Neue"/>
              <a:cs typeface="Helvetica Neue"/>
              <a:sym typeface="Helvetica Neue"/>
            </a:endParaRPr>
          </a:p>
          <a:p>
            <a:pPr indent="0" lvl="0" marL="0" rtl="0" algn="l">
              <a:spcBef>
                <a:spcPts val="1200"/>
              </a:spcBef>
              <a:spcAft>
                <a:spcPts val="0"/>
              </a:spcAft>
              <a:buNone/>
            </a:pPr>
            <a:r>
              <a:t/>
            </a:r>
            <a:endParaRPr sz="1400">
              <a:solidFill>
                <a:schemeClr val="dk1"/>
              </a:solidFill>
              <a:latin typeface="Helvetica Neue"/>
              <a:ea typeface="Helvetica Neue"/>
              <a:cs typeface="Helvetica Neue"/>
              <a:sym typeface="Helvetica Neue"/>
            </a:endParaRPr>
          </a:p>
          <a:p>
            <a:pPr indent="-317500" lvl="0" marL="457200" rtl="0" algn="l">
              <a:spcBef>
                <a:spcPts val="120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The user will then be able to make adjustments or pull up a live feed to assess the situation and make the </a:t>
            </a:r>
            <a:r>
              <a:rPr lang="en" sz="1400">
                <a:solidFill>
                  <a:schemeClr val="dk1"/>
                </a:solidFill>
                <a:latin typeface="Helvetica Neue"/>
                <a:ea typeface="Helvetica Neue"/>
                <a:cs typeface="Helvetica Neue"/>
                <a:sym typeface="Helvetica Neue"/>
              </a:rPr>
              <a:t>appropriate</a:t>
            </a:r>
            <a:r>
              <a:rPr lang="en" sz="1400">
                <a:solidFill>
                  <a:schemeClr val="dk1"/>
                </a:solidFill>
                <a:latin typeface="Helvetica Neue"/>
                <a:ea typeface="Helvetica Neue"/>
                <a:cs typeface="Helvetica Neue"/>
                <a:sym typeface="Helvetica Neue"/>
              </a:rPr>
              <a:t> response in turn</a:t>
            </a:r>
            <a:endParaRPr sz="1400">
              <a:solidFill>
                <a:schemeClr val="dk1"/>
              </a:solidFill>
              <a:latin typeface="Helvetica Neue"/>
              <a:ea typeface="Helvetica Neue"/>
              <a:cs typeface="Helvetica Neue"/>
              <a:sym typeface="Helvetica Neue"/>
            </a:endParaRPr>
          </a:p>
        </p:txBody>
      </p:sp>
      <p:pic>
        <p:nvPicPr>
          <p:cNvPr id="86" name="Google Shape;86;p17"/>
          <p:cNvPicPr preferRelativeResize="0"/>
          <p:nvPr/>
        </p:nvPicPr>
        <p:blipFill>
          <a:blip r:embed="rId4">
            <a:alphaModFix/>
          </a:blip>
          <a:stretch>
            <a:fillRect/>
          </a:stretch>
        </p:blipFill>
        <p:spPr>
          <a:xfrm>
            <a:off x="136625" y="935775"/>
            <a:ext cx="4435376" cy="40879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Technology/Design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76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Bluetooth Connection Overview: iOS</a:t>
            </a:r>
            <a:endParaRPr/>
          </a:p>
        </p:txBody>
      </p:sp>
      <p:pic>
        <p:nvPicPr>
          <p:cNvPr id="97" name="Google Shape;97;p19"/>
          <p:cNvPicPr preferRelativeResize="0"/>
          <p:nvPr/>
        </p:nvPicPr>
        <p:blipFill>
          <a:blip r:embed="rId3">
            <a:alphaModFix/>
          </a:blip>
          <a:stretch>
            <a:fillRect/>
          </a:stretch>
        </p:blipFill>
        <p:spPr>
          <a:xfrm>
            <a:off x="2995313" y="849650"/>
            <a:ext cx="3153375" cy="4231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Bluetooth Connection Overview: Triton/Raspberry Pi</a:t>
            </a:r>
            <a:endParaRPr/>
          </a:p>
        </p:txBody>
      </p:sp>
      <p:pic>
        <p:nvPicPr>
          <p:cNvPr id="103" name="Google Shape;103;p20"/>
          <p:cNvPicPr preferRelativeResize="0"/>
          <p:nvPr/>
        </p:nvPicPr>
        <p:blipFill>
          <a:blip r:embed="rId3">
            <a:alphaModFix/>
          </a:blip>
          <a:stretch>
            <a:fillRect/>
          </a:stretch>
        </p:blipFill>
        <p:spPr>
          <a:xfrm>
            <a:off x="2642763" y="1017725"/>
            <a:ext cx="3858477" cy="4018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iOS App User Interface</a:t>
            </a:r>
            <a:endParaRPr/>
          </a:p>
        </p:txBody>
      </p:sp>
      <p:sp>
        <p:nvSpPr>
          <p:cNvPr id="109" name="Google Shape;109;p21"/>
          <p:cNvSpPr txBox="1"/>
          <p:nvPr>
            <p:ph idx="1" type="body"/>
          </p:nvPr>
        </p:nvSpPr>
        <p:spPr>
          <a:xfrm>
            <a:off x="311700" y="1128675"/>
            <a:ext cx="2073300" cy="34164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SwiftUI</a:t>
            </a:r>
            <a:endParaRPr sz="1400">
              <a:solidFill>
                <a:schemeClr val="dk1"/>
              </a:solidFill>
              <a:latin typeface="Helvetica Neue"/>
              <a:ea typeface="Helvetica Neue"/>
              <a:cs typeface="Helvetica Neue"/>
              <a:sym typeface="Helvetica Neue"/>
            </a:endParaRPr>
          </a:p>
          <a:p>
            <a:pPr indent="-317500" lvl="0" marL="457200" rtl="0" algn="l">
              <a:lnSpc>
                <a:spcPct val="20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Button</a:t>
            </a:r>
            <a:endParaRPr sz="1400">
              <a:solidFill>
                <a:schemeClr val="dk1"/>
              </a:solidFill>
              <a:latin typeface="Helvetica Neue"/>
              <a:ea typeface="Helvetica Neue"/>
              <a:cs typeface="Helvetica Neue"/>
              <a:sym typeface="Helvetica Neue"/>
            </a:endParaRPr>
          </a:p>
          <a:p>
            <a:pPr indent="-317500" lvl="0" marL="457200" rtl="0" algn="l">
              <a:lnSpc>
                <a:spcPct val="20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HStack</a:t>
            </a:r>
            <a:endParaRPr sz="1400">
              <a:solidFill>
                <a:schemeClr val="dk1"/>
              </a:solidFill>
              <a:latin typeface="Helvetica Neue"/>
              <a:ea typeface="Helvetica Neue"/>
              <a:cs typeface="Helvetica Neue"/>
              <a:sym typeface="Helvetica Neue"/>
            </a:endParaRPr>
          </a:p>
          <a:p>
            <a:pPr indent="-317500" lvl="0" marL="457200" rtl="0" algn="l">
              <a:lnSpc>
                <a:spcPct val="200000"/>
              </a:lnSpc>
              <a:spcBef>
                <a:spcPts val="0"/>
              </a:spcBef>
              <a:spcAft>
                <a:spcPts val="0"/>
              </a:spcAft>
              <a:buClr>
                <a:schemeClr val="dk1"/>
              </a:buClr>
              <a:buSzPts val="1400"/>
              <a:buFont typeface="Helvetica Neue"/>
              <a:buChar char="●"/>
            </a:pPr>
            <a:r>
              <a:rPr lang="en" sz="1400">
                <a:solidFill>
                  <a:schemeClr val="dk1"/>
                </a:solidFill>
                <a:latin typeface="Helvetica Neue"/>
                <a:ea typeface="Helvetica Neue"/>
                <a:cs typeface="Helvetica Neue"/>
                <a:sym typeface="Helvetica Neue"/>
              </a:rPr>
              <a:t>VStack</a:t>
            </a:r>
            <a:endParaRPr sz="1400">
              <a:solidFill>
                <a:schemeClr val="dk1"/>
              </a:solidFill>
              <a:latin typeface="Helvetica Neue"/>
              <a:ea typeface="Helvetica Neue"/>
              <a:cs typeface="Helvetica Neue"/>
              <a:sym typeface="Helvetica Neue"/>
            </a:endParaRPr>
          </a:p>
          <a:p>
            <a:pPr indent="0" lvl="0" marL="0" rtl="0" algn="l">
              <a:spcBef>
                <a:spcPts val="1200"/>
              </a:spcBef>
              <a:spcAft>
                <a:spcPts val="1200"/>
              </a:spcAft>
              <a:buNone/>
            </a:pPr>
            <a:r>
              <a:t/>
            </a:r>
            <a:endParaRPr/>
          </a:p>
        </p:txBody>
      </p:sp>
      <p:pic>
        <p:nvPicPr>
          <p:cNvPr id="110" name="Google Shape;110;p21"/>
          <p:cNvPicPr preferRelativeResize="0"/>
          <p:nvPr/>
        </p:nvPicPr>
        <p:blipFill>
          <a:blip r:embed="rId3">
            <a:alphaModFix/>
          </a:blip>
          <a:stretch>
            <a:fillRect/>
          </a:stretch>
        </p:blipFill>
        <p:spPr>
          <a:xfrm>
            <a:off x="2384949" y="1128675"/>
            <a:ext cx="1737899" cy="3762376"/>
          </a:xfrm>
          <a:prstGeom prst="rect">
            <a:avLst/>
          </a:prstGeom>
          <a:noFill/>
          <a:ln>
            <a:noFill/>
          </a:ln>
        </p:spPr>
      </p:pic>
      <p:pic>
        <p:nvPicPr>
          <p:cNvPr id="111" name="Google Shape;111;p21"/>
          <p:cNvPicPr preferRelativeResize="0"/>
          <p:nvPr/>
        </p:nvPicPr>
        <p:blipFill>
          <a:blip r:embed="rId4">
            <a:alphaModFix/>
          </a:blip>
          <a:stretch>
            <a:fillRect/>
          </a:stretch>
        </p:blipFill>
        <p:spPr>
          <a:xfrm>
            <a:off x="4739675" y="1128640"/>
            <a:ext cx="1737899" cy="3762412"/>
          </a:xfrm>
          <a:prstGeom prst="rect">
            <a:avLst/>
          </a:prstGeom>
          <a:noFill/>
          <a:ln>
            <a:noFill/>
          </a:ln>
        </p:spPr>
      </p:pic>
      <p:pic>
        <p:nvPicPr>
          <p:cNvPr id="112" name="Google Shape;112;p21"/>
          <p:cNvPicPr preferRelativeResize="0"/>
          <p:nvPr/>
        </p:nvPicPr>
        <p:blipFill>
          <a:blip r:embed="rId5">
            <a:alphaModFix/>
          </a:blip>
          <a:stretch>
            <a:fillRect/>
          </a:stretch>
        </p:blipFill>
        <p:spPr>
          <a:xfrm>
            <a:off x="7094399" y="1128654"/>
            <a:ext cx="1737899" cy="37623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GPS Module</a:t>
            </a:r>
            <a:endParaRPr/>
          </a:p>
        </p:txBody>
      </p:sp>
      <p:sp>
        <p:nvSpPr>
          <p:cNvPr id="118" name="Google Shape;118;p22"/>
          <p:cNvSpPr txBox="1"/>
          <p:nvPr>
            <p:ph idx="1" type="body"/>
          </p:nvPr>
        </p:nvSpPr>
        <p:spPr>
          <a:xfrm>
            <a:off x="311700" y="1152475"/>
            <a:ext cx="5160000" cy="3416400"/>
          </a:xfrm>
          <a:prstGeom prst="rect">
            <a:avLst/>
          </a:prstGeom>
        </p:spPr>
        <p:txBody>
          <a:bodyPr anchorCtr="0" anchor="t" bIns="91425" lIns="91425" spcFirstLastPara="1" rIns="91425" wrap="square" tIns="91425">
            <a:normAutofit fontScale="77500" lnSpcReduction="20000"/>
          </a:bodyPr>
          <a:lstStyle/>
          <a:p>
            <a:pPr indent="-318696" lvl="0" marL="4572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Transmits signals and </a:t>
            </a:r>
            <a:r>
              <a:rPr lang="en" sz="1830">
                <a:solidFill>
                  <a:schemeClr val="dk1"/>
                </a:solidFill>
                <a:latin typeface="Helvetica Neue"/>
                <a:ea typeface="Helvetica Neue"/>
                <a:cs typeface="Helvetica Neue"/>
                <a:sym typeface="Helvetica Neue"/>
              </a:rPr>
              <a:t>receives</a:t>
            </a:r>
            <a:r>
              <a:rPr lang="en" sz="1830">
                <a:solidFill>
                  <a:schemeClr val="dk1"/>
                </a:solidFill>
                <a:latin typeface="Helvetica Neue"/>
                <a:ea typeface="Helvetica Neue"/>
                <a:cs typeface="Helvetica Neue"/>
                <a:sym typeface="Helvetica Neue"/>
              </a:rPr>
              <a:t> data from multiple </a:t>
            </a:r>
            <a:r>
              <a:rPr lang="en" sz="1830">
                <a:solidFill>
                  <a:schemeClr val="dk1"/>
                </a:solidFill>
                <a:latin typeface="Helvetica Neue"/>
                <a:ea typeface="Helvetica Neue"/>
                <a:cs typeface="Helvetica Neue"/>
                <a:sym typeface="Helvetica Neue"/>
              </a:rPr>
              <a:t>satellites</a:t>
            </a:r>
            <a:r>
              <a:rPr lang="en" sz="1830">
                <a:solidFill>
                  <a:schemeClr val="dk1"/>
                </a:solidFill>
                <a:latin typeface="Helvetica Neue"/>
                <a:ea typeface="Helvetica Neue"/>
                <a:cs typeface="Helvetica Neue"/>
                <a:sym typeface="Helvetica Neue"/>
              </a:rPr>
              <a:t>	</a:t>
            </a:r>
            <a:endParaRPr sz="1830">
              <a:solidFill>
                <a:schemeClr val="dk1"/>
              </a:solidFill>
              <a:latin typeface="Helvetica Neue"/>
              <a:ea typeface="Helvetica Neue"/>
              <a:cs typeface="Helvetica Neue"/>
              <a:sym typeface="Helvetica Neue"/>
            </a:endParaRPr>
          </a:p>
          <a:p>
            <a:pPr indent="0" lvl="0" marL="457200" rtl="0" algn="l">
              <a:lnSpc>
                <a:spcPct val="100000"/>
              </a:lnSpc>
              <a:spcBef>
                <a:spcPts val="1200"/>
              </a:spcBef>
              <a:spcAft>
                <a:spcPts val="0"/>
              </a:spcAft>
              <a:buNone/>
            </a:pPr>
            <a:r>
              <a:t/>
            </a:r>
            <a:endParaRPr sz="1830">
              <a:solidFill>
                <a:schemeClr val="dk1"/>
              </a:solidFill>
              <a:latin typeface="Helvetica Neue"/>
              <a:ea typeface="Helvetica Neue"/>
              <a:cs typeface="Helvetica Neue"/>
              <a:sym typeface="Helvetica Neue"/>
            </a:endParaRPr>
          </a:p>
          <a:p>
            <a:pPr indent="-318696" lvl="0" marL="457200" rtl="0" algn="l">
              <a:lnSpc>
                <a:spcPct val="100000"/>
              </a:lnSpc>
              <a:spcBef>
                <a:spcPts val="120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Output of NMEA Data </a:t>
            </a:r>
            <a:endParaRPr sz="1830">
              <a:solidFill>
                <a:schemeClr val="dk1"/>
              </a:solidFill>
              <a:latin typeface="Helvetica Neue"/>
              <a:ea typeface="Helvetica Neue"/>
              <a:cs typeface="Helvetica Neue"/>
              <a:sym typeface="Helvetica Neue"/>
            </a:endParaRPr>
          </a:p>
          <a:p>
            <a:pPr indent="0" lvl="0" marL="457200" rtl="0" algn="l">
              <a:lnSpc>
                <a:spcPct val="100000"/>
              </a:lnSpc>
              <a:spcBef>
                <a:spcPts val="1200"/>
              </a:spcBef>
              <a:spcAft>
                <a:spcPts val="0"/>
              </a:spcAft>
              <a:buNone/>
            </a:pPr>
            <a:r>
              <a:t/>
            </a:r>
            <a:endParaRPr sz="1830">
              <a:solidFill>
                <a:schemeClr val="dk1"/>
              </a:solidFill>
              <a:latin typeface="Helvetica Neue"/>
              <a:ea typeface="Helvetica Neue"/>
              <a:cs typeface="Helvetica Neue"/>
              <a:sym typeface="Helvetica Neue"/>
            </a:endParaRPr>
          </a:p>
          <a:p>
            <a:pPr indent="-318696" lvl="0" marL="457200" rtl="0" algn="l">
              <a:lnSpc>
                <a:spcPct val="100000"/>
              </a:lnSpc>
              <a:spcBef>
                <a:spcPts val="120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Data includes:</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Date</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UTC Time</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Latitude</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Longitude</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Altitude</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Speed Over Ground</a:t>
            </a:r>
            <a:endParaRPr sz="1830">
              <a:solidFill>
                <a:schemeClr val="dk1"/>
              </a:solidFill>
              <a:latin typeface="Helvetica Neue"/>
              <a:ea typeface="Helvetica Neue"/>
              <a:cs typeface="Helvetica Neue"/>
              <a:sym typeface="Helvetica Neue"/>
            </a:endParaRPr>
          </a:p>
          <a:p>
            <a:pPr indent="-318696" lvl="1" marL="914400" rtl="0" algn="l">
              <a:lnSpc>
                <a:spcPct val="100000"/>
              </a:lnSpc>
              <a:spcBef>
                <a:spcPts val="0"/>
              </a:spcBef>
              <a:spcAft>
                <a:spcPts val="0"/>
              </a:spcAft>
              <a:buClr>
                <a:schemeClr val="dk1"/>
              </a:buClr>
              <a:buSzPct val="100000"/>
              <a:buFont typeface="Helvetica Neue"/>
              <a:buChar char="○"/>
            </a:pPr>
            <a:r>
              <a:rPr lang="en" sz="1830">
                <a:solidFill>
                  <a:schemeClr val="dk1"/>
                </a:solidFill>
                <a:latin typeface="Helvetica Neue"/>
                <a:ea typeface="Helvetica Neue"/>
                <a:cs typeface="Helvetica Neue"/>
                <a:sym typeface="Helvetica Neue"/>
              </a:rPr>
              <a:t>Course Over Ground</a:t>
            </a:r>
            <a:endParaRPr sz="1830">
              <a:solidFill>
                <a:schemeClr val="dk1"/>
              </a:solidFill>
              <a:latin typeface="Helvetica Neue"/>
              <a:ea typeface="Helvetica Neue"/>
              <a:cs typeface="Helvetica Neue"/>
              <a:sym typeface="Helvetica Neue"/>
            </a:endParaRPr>
          </a:p>
          <a:p>
            <a:pPr indent="0" lvl="0" marL="0" rtl="0" algn="l">
              <a:spcBef>
                <a:spcPts val="1200"/>
              </a:spcBef>
              <a:spcAft>
                <a:spcPts val="1200"/>
              </a:spcAft>
              <a:buNone/>
            </a:pPr>
            <a:r>
              <a:t/>
            </a:r>
            <a:endParaRPr/>
          </a:p>
        </p:txBody>
      </p:sp>
      <p:pic>
        <p:nvPicPr>
          <p:cNvPr id="119" name="Google Shape;119;p22"/>
          <p:cNvPicPr preferRelativeResize="0"/>
          <p:nvPr/>
        </p:nvPicPr>
        <p:blipFill rotWithShape="1">
          <a:blip r:embed="rId3">
            <a:alphaModFix/>
          </a:blip>
          <a:srcRect b="33576" l="0" r="0" t="0"/>
          <a:stretch/>
        </p:blipFill>
        <p:spPr>
          <a:xfrm>
            <a:off x="5471688" y="935300"/>
            <a:ext cx="2468901" cy="2186501"/>
          </a:xfrm>
          <a:prstGeom prst="rect">
            <a:avLst/>
          </a:prstGeom>
          <a:noFill/>
          <a:ln>
            <a:noFill/>
          </a:ln>
        </p:spPr>
      </p:pic>
      <p:pic>
        <p:nvPicPr>
          <p:cNvPr id="120" name="Google Shape;120;p22"/>
          <p:cNvPicPr preferRelativeResize="0"/>
          <p:nvPr/>
        </p:nvPicPr>
        <p:blipFill>
          <a:blip r:embed="rId4">
            <a:alphaModFix/>
          </a:blip>
          <a:stretch>
            <a:fillRect/>
          </a:stretch>
        </p:blipFill>
        <p:spPr>
          <a:xfrm>
            <a:off x="4019875" y="3305672"/>
            <a:ext cx="4812426" cy="149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299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Oak-D Camera</a:t>
            </a:r>
            <a:endParaRPr/>
          </a:p>
        </p:txBody>
      </p:sp>
      <p:sp>
        <p:nvSpPr>
          <p:cNvPr id="126" name="Google Shape;126;p23"/>
          <p:cNvSpPr txBox="1"/>
          <p:nvPr>
            <p:ph idx="1" type="body"/>
          </p:nvPr>
        </p:nvSpPr>
        <p:spPr>
          <a:xfrm>
            <a:off x="205125" y="947125"/>
            <a:ext cx="5579700" cy="4335900"/>
          </a:xfrm>
          <a:prstGeom prst="rect">
            <a:avLst/>
          </a:prstGeom>
        </p:spPr>
        <p:txBody>
          <a:bodyPr anchorCtr="0" anchor="t" bIns="91425" lIns="91425" spcFirstLastPara="1" rIns="91425" wrap="square" tIns="91425">
            <a:normAutofit fontScale="32500" lnSpcReduction="20000"/>
          </a:bodyPr>
          <a:lstStyle/>
          <a:p>
            <a:pPr indent="-317976" lvl="0" marL="457200" rtl="0" algn="l">
              <a:lnSpc>
                <a:spcPct val="100000"/>
              </a:lnSpc>
              <a:spcBef>
                <a:spcPts val="0"/>
              </a:spcBef>
              <a:spcAft>
                <a:spcPts val="0"/>
              </a:spcAft>
              <a:buClr>
                <a:schemeClr val="dk1"/>
              </a:buClr>
              <a:buSzPct val="100000"/>
              <a:buFont typeface="Helvetica Neue"/>
              <a:buChar char="●"/>
            </a:pPr>
            <a:r>
              <a:rPr lang="en" sz="4330">
                <a:solidFill>
                  <a:schemeClr val="dk1"/>
                </a:solidFill>
                <a:latin typeface="Helvetica Neue"/>
                <a:ea typeface="Helvetica Neue"/>
                <a:cs typeface="Helvetica Neue"/>
                <a:sym typeface="Helvetica Neue"/>
              </a:rPr>
              <a:t>Currently our prototype is able to detect and measure the distance of objects reliably up to 12 meters away and can alert of nearby objects and their relative position to the camera </a:t>
            </a:r>
            <a:endParaRPr sz="4330">
              <a:solidFill>
                <a:schemeClr val="dk1"/>
              </a:solidFill>
              <a:latin typeface="Helvetica Neue"/>
              <a:ea typeface="Helvetica Neue"/>
              <a:cs typeface="Helvetica Neue"/>
              <a:sym typeface="Helvetica Neue"/>
            </a:endParaRPr>
          </a:p>
          <a:p>
            <a:pPr indent="0" lvl="0" marL="457200" rtl="0" algn="l">
              <a:lnSpc>
                <a:spcPct val="100000"/>
              </a:lnSpc>
              <a:spcBef>
                <a:spcPts val="1200"/>
              </a:spcBef>
              <a:spcAft>
                <a:spcPts val="0"/>
              </a:spcAft>
              <a:buNone/>
            </a:pPr>
            <a:r>
              <a:t/>
            </a:r>
            <a:endParaRPr sz="4330">
              <a:solidFill>
                <a:schemeClr val="dk1"/>
              </a:solidFill>
              <a:latin typeface="Helvetica Neue"/>
              <a:ea typeface="Helvetica Neue"/>
              <a:cs typeface="Helvetica Neue"/>
              <a:sym typeface="Helvetica Neue"/>
            </a:endParaRPr>
          </a:p>
          <a:p>
            <a:pPr indent="-317976" lvl="0" marL="457200" rtl="0" algn="l">
              <a:lnSpc>
                <a:spcPct val="100000"/>
              </a:lnSpc>
              <a:spcBef>
                <a:spcPts val="1200"/>
              </a:spcBef>
              <a:spcAft>
                <a:spcPts val="0"/>
              </a:spcAft>
              <a:buClr>
                <a:schemeClr val="dk1"/>
              </a:buClr>
              <a:buSzPct val="100000"/>
              <a:buFont typeface="Helvetica Neue"/>
              <a:buChar char="●"/>
            </a:pPr>
            <a:r>
              <a:rPr lang="en" sz="4330">
                <a:solidFill>
                  <a:schemeClr val="dk1"/>
                </a:solidFill>
                <a:latin typeface="Helvetica Neue"/>
                <a:ea typeface="Helvetica Neue"/>
                <a:cs typeface="Helvetica Neue"/>
                <a:sym typeface="Helvetica Neue"/>
              </a:rPr>
              <a:t>We plan to train the camera through machine </a:t>
            </a:r>
            <a:r>
              <a:rPr lang="en" sz="4330">
                <a:solidFill>
                  <a:schemeClr val="dk1"/>
                </a:solidFill>
                <a:latin typeface="Helvetica Neue"/>
                <a:ea typeface="Helvetica Neue"/>
                <a:cs typeface="Helvetica Neue"/>
                <a:sym typeface="Helvetica Neue"/>
              </a:rPr>
              <a:t>learning</a:t>
            </a:r>
            <a:r>
              <a:rPr lang="en" sz="4330">
                <a:solidFill>
                  <a:schemeClr val="dk1"/>
                </a:solidFill>
                <a:latin typeface="Helvetica Neue"/>
                <a:ea typeface="Helvetica Neue"/>
                <a:cs typeface="Helvetica Neue"/>
                <a:sym typeface="Helvetica Neue"/>
              </a:rPr>
              <a:t> to recognize other ships and common obstacles found while sailing</a:t>
            </a:r>
            <a:endParaRPr sz="4330">
              <a:solidFill>
                <a:schemeClr val="dk1"/>
              </a:solidFill>
              <a:latin typeface="Helvetica Neue"/>
              <a:ea typeface="Helvetica Neue"/>
              <a:cs typeface="Helvetica Neue"/>
              <a:sym typeface="Helvetica Neue"/>
            </a:endParaRPr>
          </a:p>
          <a:p>
            <a:pPr indent="0" lvl="0" marL="457200" rtl="0" algn="l">
              <a:lnSpc>
                <a:spcPct val="100000"/>
              </a:lnSpc>
              <a:spcBef>
                <a:spcPts val="1200"/>
              </a:spcBef>
              <a:spcAft>
                <a:spcPts val="0"/>
              </a:spcAft>
              <a:buNone/>
            </a:pPr>
            <a:r>
              <a:t/>
            </a:r>
            <a:endParaRPr sz="4330">
              <a:solidFill>
                <a:schemeClr val="dk1"/>
              </a:solidFill>
              <a:latin typeface="Helvetica Neue"/>
              <a:ea typeface="Helvetica Neue"/>
              <a:cs typeface="Helvetica Neue"/>
              <a:sym typeface="Helvetica Neue"/>
            </a:endParaRPr>
          </a:p>
          <a:p>
            <a:pPr indent="-317976" lvl="0" marL="457200" rtl="0" algn="l">
              <a:lnSpc>
                <a:spcPct val="100000"/>
              </a:lnSpc>
              <a:spcBef>
                <a:spcPts val="1200"/>
              </a:spcBef>
              <a:spcAft>
                <a:spcPts val="0"/>
              </a:spcAft>
              <a:buClr>
                <a:schemeClr val="dk1"/>
              </a:buClr>
              <a:buSzPct val="100000"/>
              <a:buFont typeface="Helvetica Neue"/>
              <a:buChar char="●"/>
            </a:pPr>
            <a:r>
              <a:rPr lang="en" sz="4330">
                <a:solidFill>
                  <a:schemeClr val="dk1"/>
                </a:solidFill>
                <a:latin typeface="Helvetica Neue"/>
                <a:ea typeface="Helvetica Neue"/>
                <a:cs typeface="Helvetica Neue"/>
                <a:sym typeface="Helvetica Neue"/>
              </a:rPr>
              <a:t>Upon recognizing an obstacle the user will be alerted and given the option to view the object and to have the Oak-D camera then physically track the object</a:t>
            </a:r>
            <a:endParaRPr sz="4330">
              <a:solidFill>
                <a:schemeClr val="dk1"/>
              </a:solidFill>
              <a:latin typeface="Helvetica Neue"/>
              <a:ea typeface="Helvetica Neue"/>
              <a:cs typeface="Helvetica Neue"/>
              <a:sym typeface="Helvetica Neue"/>
            </a:endParaRPr>
          </a:p>
          <a:p>
            <a:pPr indent="0" lvl="0" marL="457200" rtl="0" algn="l">
              <a:lnSpc>
                <a:spcPct val="100000"/>
              </a:lnSpc>
              <a:spcBef>
                <a:spcPts val="1200"/>
              </a:spcBef>
              <a:spcAft>
                <a:spcPts val="0"/>
              </a:spcAft>
              <a:buNone/>
            </a:pPr>
            <a:r>
              <a:t/>
            </a:r>
            <a:endParaRPr sz="4330">
              <a:solidFill>
                <a:schemeClr val="dk1"/>
              </a:solidFill>
              <a:latin typeface="Helvetica Neue"/>
              <a:ea typeface="Helvetica Neue"/>
              <a:cs typeface="Helvetica Neue"/>
              <a:sym typeface="Helvetica Neue"/>
            </a:endParaRPr>
          </a:p>
          <a:p>
            <a:pPr indent="-317976" lvl="0" marL="457200" rtl="0" algn="l">
              <a:lnSpc>
                <a:spcPct val="100000"/>
              </a:lnSpc>
              <a:spcBef>
                <a:spcPts val="1200"/>
              </a:spcBef>
              <a:spcAft>
                <a:spcPts val="0"/>
              </a:spcAft>
              <a:buClr>
                <a:schemeClr val="dk1"/>
              </a:buClr>
              <a:buSzPct val="100000"/>
              <a:buFont typeface="Helvetica Neue"/>
              <a:buChar char="●"/>
            </a:pPr>
            <a:r>
              <a:rPr lang="en" sz="4330">
                <a:solidFill>
                  <a:schemeClr val="dk1"/>
                </a:solidFill>
                <a:latin typeface="Helvetica Neue"/>
                <a:ea typeface="Helvetica Neue"/>
                <a:cs typeface="Helvetica Neue"/>
                <a:sym typeface="Helvetica Neue"/>
              </a:rPr>
              <a:t>The Oak-D will be mounted onto a motor that will allow it to follow detected objects, as well as scan and increase the FOV of our system</a:t>
            </a:r>
            <a:endParaRPr sz="4330">
              <a:solidFill>
                <a:schemeClr val="dk1"/>
              </a:solidFill>
              <a:latin typeface="Helvetica Neue"/>
              <a:ea typeface="Helvetica Neue"/>
              <a:cs typeface="Helvetica Neue"/>
              <a:sym typeface="Helvetica Neue"/>
            </a:endParaRPr>
          </a:p>
          <a:p>
            <a:pPr indent="0" lvl="0" marL="0" rtl="0" algn="l">
              <a:spcBef>
                <a:spcPts val="1200"/>
              </a:spcBef>
              <a:spcAft>
                <a:spcPts val="1200"/>
              </a:spcAft>
              <a:buNone/>
            </a:pPr>
            <a:r>
              <a:t/>
            </a:r>
            <a:endParaRPr/>
          </a:p>
        </p:txBody>
      </p:sp>
      <p:pic>
        <p:nvPicPr>
          <p:cNvPr id="127" name="Google Shape;127;p23"/>
          <p:cNvPicPr preferRelativeResize="0"/>
          <p:nvPr/>
        </p:nvPicPr>
        <p:blipFill>
          <a:blip r:embed="rId3">
            <a:alphaModFix/>
          </a:blip>
          <a:stretch>
            <a:fillRect/>
          </a:stretch>
        </p:blipFill>
        <p:spPr>
          <a:xfrm>
            <a:off x="5966575" y="947125"/>
            <a:ext cx="2865731" cy="3820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Oak-D Camera (Cont)</a:t>
            </a:r>
            <a:endParaRPr/>
          </a:p>
        </p:txBody>
      </p:sp>
      <p:pic>
        <p:nvPicPr>
          <p:cNvPr id="133" name="Google Shape;133;p24"/>
          <p:cNvPicPr preferRelativeResize="0"/>
          <p:nvPr/>
        </p:nvPicPr>
        <p:blipFill>
          <a:blip r:embed="rId3">
            <a:alphaModFix/>
          </a:blip>
          <a:stretch>
            <a:fillRect/>
          </a:stretch>
        </p:blipFill>
        <p:spPr>
          <a:xfrm>
            <a:off x="227652" y="1251550"/>
            <a:ext cx="4268948" cy="2856625"/>
          </a:xfrm>
          <a:prstGeom prst="rect">
            <a:avLst/>
          </a:prstGeom>
          <a:noFill/>
          <a:ln>
            <a:noFill/>
          </a:ln>
        </p:spPr>
      </p:pic>
      <p:pic>
        <p:nvPicPr>
          <p:cNvPr id="134" name="Google Shape;134;p24"/>
          <p:cNvPicPr preferRelativeResize="0"/>
          <p:nvPr/>
        </p:nvPicPr>
        <p:blipFill>
          <a:blip r:embed="rId4">
            <a:alphaModFix/>
          </a:blip>
          <a:stretch>
            <a:fillRect/>
          </a:stretch>
        </p:blipFill>
        <p:spPr>
          <a:xfrm>
            <a:off x="4685850" y="1251550"/>
            <a:ext cx="4232050" cy="2856634"/>
          </a:xfrm>
          <a:prstGeom prst="rect">
            <a:avLst/>
          </a:prstGeom>
          <a:noFill/>
          <a:ln>
            <a:noFill/>
          </a:ln>
        </p:spPr>
      </p:pic>
      <p:sp>
        <p:nvSpPr>
          <p:cNvPr id="135" name="Google Shape;135;p24"/>
          <p:cNvSpPr txBox="1"/>
          <p:nvPr/>
        </p:nvSpPr>
        <p:spPr>
          <a:xfrm>
            <a:off x="338800" y="4181225"/>
            <a:ext cx="4013700" cy="2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3"/>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Housing</a:t>
            </a:r>
            <a:endParaRPr/>
          </a:p>
        </p:txBody>
      </p:sp>
      <p:sp>
        <p:nvSpPr>
          <p:cNvPr id="141" name="Google Shape;14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5912" lvl="0" marL="4572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Devices placed on three main points of the boat</a:t>
            </a:r>
            <a:endParaRPr sz="1375">
              <a:solidFill>
                <a:schemeClr val="dk1"/>
              </a:solidFill>
              <a:latin typeface="Helvetica Neue"/>
              <a:ea typeface="Helvetica Neue"/>
              <a:cs typeface="Helvetica Neue"/>
              <a:sym typeface="Helvetica Neue"/>
            </a:endParaRPr>
          </a:p>
          <a:p>
            <a:pPr indent="-315912" lvl="1" marL="9144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Front </a:t>
            </a:r>
            <a:endParaRPr sz="1375">
              <a:solidFill>
                <a:schemeClr val="dk1"/>
              </a:solidFill>
              <a:latin typeface="Helvetica Neue"/>
              <a:ea typeface="Helvetica Neue"/>
              <a:cs typeface="Helvetica Neue"/>
              <a:sym typeface="Helvetica Neue"/>
            </a:endParaRPr>
          </a:p>
          <a:p>
            <a:pPr indent="-315912" lvl="2" marL="13716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Oak-D camera</a:t>
            </a:r>
            <a:endParaRPr sz="1375">
              <a:solidFill>
                <a:schemeClr val="dk1"/>
              </a:solidFill>
              <a:latin typeface="Helvetica Neue"/>
              <a:ea typeface="Helvetica Neue"/>
              <a:cs typeface="Helvetica Neue"/>
              <a:sym typeface="Helvetica Neue"/>
            </a:endParaRPr>
          </a:p>
          <a:p>
            <a:pPr indent="-315912" lvl="2" marL="13716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Anemometer</a:t>
            </a:r>
            <a:endParaRPr sz="1375">
              <a:solidFill>
                <a:schemeClr val="dk1"/>
              </a:solidFill>
              <a:latin typeface="Helvetica Neue"/>
              <a:ea typeface="Helvetica Neue"/>
              <a:cs typeface="Helvetica Neue"/>
              <a:sym typeface="Helvetica Neue"/>
            </a:endParaRPr>
          </a:p>
          <a:p>
            <a:pPr indent="-315912" lvl="2" marL="13716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GPS Module</a:t>
            </a:r>
            <a:endParaRPr sz="1375">
              <a:solidFill>
                <a:schemeClr val="dk1"/>
              </a:solidFill>
              <a:latin typeface="Helvetica Neue"/>
              <a:ea typeface="Helvetica Neue"/>
              <a:cs typeface="Helvetica Neue"/>
              <a:sym typeface="Helvetica Neue"/>
            </a:endParaRPr>
          </a:p>
          <a:p>
            <a:pPr indent="-315912" lvl="1" marL="9144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Left and Right </a:t>
            </a:r>
            <a:endParaRPr sz="1375">
              <a:solidFill>
                <a:schemeClr val="dk1"/>
              </a:solidFill>
              <a:latin typeface="Helvetica Neue"/>
              <a:ea typeface="Helvetica Neue"/>
              <a:cs typeface="Helvetica Neue"/>
              <a:sym typeface="Helvetica Neue"/>
            </a:endParaRPr>
          </a:p>
          <a:p>
            <a:pPr indent="-315912" lvl="2" marL="13716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Stereo Pi Cameras </a:t>
            </a:r>
            <a:endParaRPr sz="1375">
              <a:solidFill>
                <a:schemeClr val="dk1"/>
              </a:solidFill>
              <a:latin typeface="Helvetica Neue"/>
              <a:ea typeface="Helvetica Neue"/>
              <a:cs typeface="Helvetica Neue"/>
              <a:sym typeface="Helvetica Neue"/>
            </a:endParaRPr>
          </a:p>
          <a:p>
            <a:pPr indent="0" lvl="0" marL="1371600" rtl="0" algn="l">
              <a:lnSpc>
                <a:spcPct val="95000"/>
              </a:lnSpc>
              <a:spcBef>
                <a:spcPts val="1200"/>
              </a:spcBef>
              <a:spcAft>
                <a:spcPts val="0"/>
              </a:spcAft>
              <a:buNone/>
            </a:pPr>
            <a:r>
              <a:t/>
            </a:r>
            <a:endParaRPr sz="1375">
              <a:solidFill>
                <a:schemeClr val="dk1"/>
              </a:solidFill>
              <a:latin typeface="Helvetica Neue"/>
              <a:ea typeface="Helvetica Neue"/>
              <a:cs typeface="Helvetica Neue"/>
              <a:sym typeface="Helvetica Neue"/>
            </a:endParaRPr>
          </a:p>
          <a:p>
            <a:pPr indent="-315912" lvl="0" marL="457200" rtl="0" algn="l">
              <a:lnSpc>
                <a:spcPct val="95000"/>
              </a:lnSpc>
              <a:spcBef>
                <a:spcPts val="120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Mounting systems with clamps </a:t>
            </a:r>
            <a:endParaRPr sz="1375">
              <a:solidFill>
                <a:schemeClr val="dk1"/>
              </a:solidFill>
              <a:latin typeface="Helvetica Neue"/>
              <a:ea typeface="Helvetica Neue"/>
              <a:cs typeface="Helvetica Neue"/>
              <a:sym typeface="Helvetica Neue"/>
            </a:endParaRPr>
          </a:p>
          <a:p>
            <a:pPr indent="0" lvl="0" marL="457200" rtl="0" algn="l">
              <a:lnSpc>
                <a:spcPct val="95000"/>
              </a:lnSpc>
              <a:spcBef>
                <a:spcPts val="1200"/>
              </a:spcBef>
              <a:spcAft>
                <a:spcPts val="0"/>
              </a:spcAft>
              <a:buSzPts val="935"/>
              <a:buNone/>
            </a:pPr>
            <a:r>
              <a:t/>
            </a:r>
            <a:endParaRPr sz="1375">
              <a:solidFill>
                <a:schemeClr val="dk1"/>
              </a:solidFill>
              <a:latin typeface="Helvetica Neue"/>
              <a:ea typeface="Helvetica Neue"/>
              <a:cs typeface="Helvetica Neue"/>
              <a:sym typeface="Helvetica Neue"/>
            </a:endParaRPr>
          </a:p>
          <a:p>
            <a:pPr indent="-315912" lvl="0" marL="457200" rtl="0" algn="l">
              <a:lnSpc>
                <a:spcPct val="95000"/>
              </a:lnSpc>
              <a:spcBef>
                <a:spcPts val="120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Oak-D motorized swivel as an attachment to the Oak-D housing</a:t>
            </a:r>
            <a:endParaRPr sz="1375">
              <a:solidFill>
                <a:schemeClr val="dk1"/>
              </a:solidFill>
              <a:latin typeface="Helvetica Neue"/>
              <a:ea typeface="Helvetica Neue"/>
              <a:cs typeface="Helvetica Neue"/>
              <a:sym typeface="Helvetica Neue"/>
            </a:endParaRPr>
          </a:p>
          <a:p>
            <a:pPr indent="-315912" lvl="1" marL="9144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Stepper Motor</a:t>
            </a:r>
            <a:endParaRPr sz="1375">
              <a:solidFill>
                <a:schemeClr val="dk1"/>
              </a:solidFill>
              <a:latin typeface="Helvetica Neue"/>
              <a:ea typeface="Helvetica Neue"/>
              <a:cs typeface="Helvetica Neue"/>
              <a:sym typeface="Helvetica Neue"/>
            </a:endParaRPr>
          </a:p>
          <a:p>
            <a:pPr indent="-315912" lvl="1" marL="9144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Servo Motor</a:t>
            </a:r>
            <a:endParaRPr sz="1375">
              <a:solidFill>
                <a:schemeClr val="dk1"/>
              </a:solidFill>
              <a:latin typeface="Helvetica Neue"/>
              <a:ea typeface="Helvetica Neue"/>
              <a:cs typeface="Helvetica Neue"/>
              <a:sym typeface="Helvetica Neue"/>
            </a:endParaRPr>
          </a:p>
          <a:p>
            <a:pPr indent="-315912" lvl="1" marL="914400" rtl="0" algn="l">
              <a:lnSpc>
                <a:spcPct val="95000"/>
              </a:lnSpc>
              <a:spcBef>
                <a:spcPts val="0"/>
              </a:spcBef>
              <a:spcAft>
                <a:spcPts val="0"/>
              </a:spcAft>
              <a:buClr>
                <a:schemeClr val="dk1"/>
              </a:buClr>
              <a:buSzPts val="1375"/>
              <a:buFont typeface="Helvetica Neue"/>
              <a:buChar char="○"/>
            </a:pPr>
            <a:r>
              <a:rPr lang="en" sz="1375">
                <a:solidFill>
                  <a:schemeClr val="dk1"/>
                </a:solidFill>
                <a:latin typeface="Helvetica Neue"/>
                <a:ea typeface="Helvetica Neue"/>
                <a:cs typeface="Helvetica Neue"/>
                <a:sym typeface="Helvetica Neue"/>
              </a:rPr>
              <a:t>Brushless Motor</a:t>
            </a:r>
            <a:endParaRPr sz="1375">
              <a:solidFill>
                <a:schemeClr val="dk1"/>
              </a:solidFill>
              <a:latin typeface="Helvetica Neue"/>
              <a:ea typeface="Helvetica Neue"/>
              <a:cs typeface="Helvetica Neue"/>
              <a:sym typeface="Helvetica Neue"/>
            </a:endParaRPr>
          </a:p>
        </p:txBody>
      </p:sp>
      <p:pic>
        <p:nvPicPr>
          <p:cNvPr id="142" name="Google Shape;142;p25"/>
          <p:cNvPicPr preferRelativeResize="0"/>
          <p:nvPr/>
        </p:nvPicPr>
        <p:blipFill>
          <a:blip r:embed="rId3">
            <a:alphaModFix/>
          </a:blip>
          <a:stretch>
            <a:fillRect/>
          </a:stretch>
        </p:blipFill>
        <p:spPr>
          <a:xfrm>
            <a:off x="6951025" y="2692450"/>
            <a:ext cx="1747550" cy="1876425"/>
          </a:xfrm>
          <a:prstGeom prst="rect">
            <a:avLst/>
          </a:prstGeom>
          <a:noFill/>
          <a:ln>
            <a:noFill/>
          </a:ln>
        </p:spPr>
      </p:pic>
      <p:pic>
        <p:nvPicPr>
          <p:cNvPr id="143" name="Google Shape;143;p25"/>
          <p:cNvPicPr preferRelativeResize="0"/>
          <p:nvPr/>
        </p:nvPicPr>
        <p:blipFill>
          <a:blip r:embed="rId4">
            <a:alphaModFix/>
          </a:blip>
          <a:stretch>
            <a:fillRect/>
          </a:stretch>
        </p:blipFill>
        <p:spPr>
          <a:xfrm>
            <a:off x="5519565" y="1017723"/>
            <a:ext cx="2256400" cy="1271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Stereo Cameras</a:t>
            </a:r>
            <a:endParaRPr/>
          </a:p>
        </p:txBody>
      </p:sp>
      <p:pic>
        <p:nvPicPr>
          <p:cNvPr id="149" name="Google Shape;149;p26"/>
          <p:cNvPicPr preferRelativeResize="0"/>
          <p:nvPr/>
        </p:nvPicPr>
        <p:blipFill>
          <a:blip r:embed="rId3">
            <a:alphaModFix/>
          </a:blip>
          <a:stretch>
            <a:fillRect/>
          </a:stretch>
        </p:blipFill>
        <p:spPr>
          <a:xfrm>
            <a:off x="1887925" y="1152475"/>
            <a:ext cx="5368145" cy="341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Speed Through Water</a:t>
            </a:r>
            <a:endParaRPr/>
          </a:p>
        </p:txBody>
      </p:sp>
      <p:sp>
        <p:nvSpPr>
          <p:cNvPr id="155" name="Google Shape;155;p27"/>
          <p:cNvSpPr txBox="1"/>
          <p:nvPr>
            <p:ph idx="1" type="body"/>
          </p:nvPr>
        </p:nvSpPr>
        <p:spPr>
          <a:xfrm>
            <a:off x="311700" y="1152475"/>
            <a:ext cx="55251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speed of an object floating on water, affected by currents hitting the object.</a:t>
            </a:r>
            <a:endParaRPr/>
          </a:p>
          <a:p>
            <a:pPr indent="-342900" lvl="0" marL="457200" rtl="0" algn="l">
              <a:spcBef>
                <a:spcPts val="0"/>
              </a:spcBef>
              <a:spcAft>
                <a:spcPts val="0"/>
              </a:spcAft>
              <a:buSzPts val="1800"/>
              <a:buChar char="●"/>
            </a:pPr>
            <a:r>
              <a:rPr lang="en"/>
              <a:t>Important for measuring trajectory of nautical navigation, as speed through water and speed on ground shows how the currents are affecting the boat.</a:t>
            </a:r>
            <a:endParaRPr/>
          </a:p>
          <a:p>
            <a:pPr indent="-342900" lvl="0" marL="457200" rtl="0" algn="l">
              <a:spcBef>
                <a:spcPts val="0"/>
              </a:spcBef>
              <a:spcAft>
                <a:spcPts val="0"/>
              </a:spcAft>
              <a:buSzPts val="1800"/>
              <a:buChar char="●"/>
            </a:pPr>
            <a:r>
              <a:rPr lang="en"/>
              <a:t>Possible ideas to take information:</a:t>
            </a:r>
            <a:endParaRPr/>
          </a:p>
          <a:p>
            <a:pPr indent="-317500" lvl="1" marL="914400" rtl="0" algn="l">
              <a:spcBef>
                <a:spcPts val="0"/>
              </a:spcBef>
              <a:spcAft>
                <a:spcPts val="0"/>
              </a:spcAft>
              <a:buSzPts val="1400"/>
              <a:buChar char="○"/>
            </a:pPr>
            <a:r>
              <a:rPr lang="en"/>
              <a:t>Pitot tube: </a:t>
            </a:r>
            <a:r>
              <a:rPr lang="en"/>
              <a:t>Convenient in terms of measurements, but would require wiring to go underwater, raising the risk of failure.</a:t>
            </a:r>
            <a:endParaRPr/>
          </a:p>
          <a:p>
            <a:pPr indent="-317500" lvl="1" marL="914400" rtl="0" algn="l">
              <a:spcBef>
                <a:spcPts val="0"/>
              </a:spcBef>
              <a:spcAft>
                <a:spcPts val="0"/>
              </a:spcAft>
              <a:buSzPts val="1400"/>
              <a:buChar char="○"/>
            </a:pPr>
            <a:r>
              <a:rPr lang="en"/>
              <a:t>Speed Transducer: Not as risky, however requires work to make it function properly, and is notably pricer.</a:t>
            </a:r>
            <a:endParaRPr/>
          </a:p>
        </p:txBody>
      </p:sp>
      <p:pic>
        <p:nvPicPr>
          <p:cNvPr id="156" name="Google Shape;156;p27"/>
          <p:cNvPicPr preferRelativeResize="0"/>
          <p:nvPr/>
        </p:nvPicPr>
        <p:blipFill>
          <a:blip r:embed="rId3">
            <a:alphaModFix/>
          </a:blip>
          <a:stretch>
            <a:fillRect/>
          </a:stretch>
        </p:blipFill>
        <p:spPr>
          <a:xfrm>
            <a:off x="6070375" y="0"/>
            <a:ext cx="3002401" cy="2254530"/>
          </a:xfrm>
          <a:prstGeom prst="rect">
            <a:avLst/>
          </a:prstGeom>
          <a:noFill/>
          <a:ln>
            <a:noFill/>
          </a:ln>
        </p:spPr>
      </p:pic>
      <p:pic>
        <p:nvPicPr>
          <p:cNvPr id="157" name="Google Shape;157;p27"/>
          <p:cNvPicPr preferRelativeResize="0"/>
          <p:nvPr/>
        </p:nvPicPr>
        <p:blipFill>
          <a:blip r:embed="rId4">
            <a:alphaModFix/>
          </a:blip>
          <a:stretch>
            <a:fillRect/>
          </a:stretch>
        </p:blipFill>
        <p:spPr>
          <a:xfrm>
            <a:off x="6070375" y="2254524"/>
            <a:ext cx="3002400" cy="22116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Prototype</a:t>
            </a:r>
            <a:endParaRPr/>
          </a:p>
        </p:txBody>
      </p:sp>
      <p:pic>
        <p:nvPicPr>
          <p:cNvPr id="163" name="Google Shape;163;p28" title="PrePrototypeTest.mov">
            <a:hlinkClick r:id="rId3"/>
          </p:cNvPr>
          <p:cNvPicPr preferRelativeResize="0"/>
          <p:nvPr/>
        </p:nvPicPr>
        <p:blipFill>
          <a:blip r:embed="rId4">
            <a:alphaModFix/>
          </a:blip>
          <a:stretch>
            <a:fillRect/>
          </a:stretch>
        </p:blipFill>
        <p:spPr>
          <a:xfrm>
            <a:off x="1791313" y="0"/>
            <a:ext cx="2893228" cy="5143501"/>
          </a:xfrm>
          <a:prstGeom prst="rect">
            <a:avLst/>
          </a:prstGeom>
          <a:noFill/>
          <a:ln>
            <a:noFill/>
          </a:ln>
        </p:spPr>
      </p:pic>
      <p:pic>
        <p:nvPicPr>
          <p:cNvPr id="164" name="Google Shape;164;p28" title="output_video.avi">
            <a:hlinkClick r:id="rId5"/>
          </p:cNvPr>
          <p:cNvPicPr preferRelativeResize="0"/>
          <p:nvPr/>
        </p:nvPicPr>
        <p:blipFill>
          <a:blip r:embed="rId6">
            <a:alphaModFix/>
          </a:blip>
          <a:stretch>
            <a:fillRect/>
          </a:stretch>
        </p:blipFill>
        <p:spPr>
          <a:xfrm>
            <a:off x="4795716" y="1273425"/>
            <a:ext cx="4154659" cy="25966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Anemometer</a:t>
            </a:r>
            <a:endParaRPr/>
          </a:p>
        </p:txBody>
      </p:sp>
      <p:sp>
        <p:nvSpPr>
          <p:cNvPr id="170" name="Google Shape;170;p29"/>
          <p:cNvSpPr txBox="1"/>
          <p:nvPr>
            <p:ph idx="1" type="body"/>
          </p:nvPr>
        </p:nvSpPr>
        <p:spPr>
          <a:xfrm>
            <a:off x="311700" y="1132175"/>
            <a:ext cx="48249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Clr>
                <a:schemeClr val="dk1"/>
              </a:buClr>
              <a:buSzPct val="100000"/>
              <a:buChar char="●"/>
            </a:pPr>
            <a:r>
              <a:rPr lang="en">
                <a:solidFill>
                  <a:schemeClr val="dk1"/>
                </a:solidFill>
              </a:rPr>
              <a:t>Sensor connected to a Raspberry Pi, sending wind speed and direction information constantly to the application.</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Integral to the </a:t>
            </a:r>
            <a:r>
              <a:rPr lang="en">
                <a:solidFill>
                  <a:schemeClr val="dk1"/>
                </a:solidFill>
              </a:rPr>
              <a:t>project</a:t>
            </a:r>
            <a:r>
              <a:rPr lang="en">
                <a:solidFill>
                  <a:schemeClr val="dk1"/>
                </a:solidFill>
              </a:rPr>
              <a:t> due to the affect wind has on most boats. Gusts can derail a boat from projected route, thus using the information to make proper instructions to react to the wind is required.</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Wind information will be recorded </a:t>
            </a:r>
            <a:r>
              <a:rPr lang="en">
                <a:solidFill>
                  <a:schemeClr val="dk1"/>
                </a:solidFill>
              </a:rPr>
              <a:t>continuously and sent to the main Pi, and, alongside camera sensor information, suggestions will be made as to how to change course, if necessary.</a:t>
            </a:r>
            <a:endParaRPr>
              <a:solidFill>
                <a:schemeClr val="dk1"/>
              </a:solidFill>
            </a:endParaRPr>
          </a:p>
        </p:txBody>
      </p:sp>
      <p:pic>
        <p:nvPicPr>
          <p:cNvPr id="171" name="Google Shape;171;p29"/>
          <p:cNvPicPr preferRelativeResize="0"/>
          <p:nvPr/>
        </p:nvPicPr>
        <p:blipFill>
          <a:blip r:embed="rId3">
            <a:alphaModFix/>
          </a:blip>
          <a:stretch>
            <a:fillRect/>
          </a:stretch>
        </p:blipFill>
        <p:spPr>
          <a:xfrm>
            <a:off x="5291123" y="1418388"/>
            <a:ext cx="3356799" cy="25193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Fall Schedule</a:t>
            </a:r>
            <a:endParaRPr/>
          </a:p>
        </p:txBody>
      </p:sp>
      <p:pic>
        <p:nvPicPr>
          <p:cNvPr id="177" name="Google Shape;177;p30"/>
          <p:cNvPicPr preferRelativeResize="0"/>
          <p:nvPr/>
        </p:nvPicPr>
        <p:blipFill>
          <a:blip r:embed="rId3">
            <a:alphaModFix/>
          </a:blip>
          <a:stretch>
            <a:fillRect/>
          </a:stretch>
        </p:blipFill>
        <p:spPr>
          <a:xfrm>
            <a:off x="311700" y="1118575"/>
            <a:ext cx="7125019" cy="3820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Spring Schedule</a:t>
            </a:r>
            <a:endParaRPr/>
          </a:p>
        </p:txBody>
      </p:sp>
      <p:pic>
        <p:nvPicPr>
          <p:cNvPr id="183" name="Google Shape;183;p31"/>
          <p:cNvPicPr preferRelativeResize="0"/>
          <p:nvPr/>
        </p:nvPicPr>
        <p:blipFill rotWithShape="1">
          <a:blip r:embed="rId3">
            <a:alphaModFix/>
          </a:blip>
          <a:srcRect b="0" l="2867" r="2479" t="0"/>
          <a:stretch/>
        </p:blipFill>
        <p:spPr>
          <a:xfrm>
            <a:off x="2547025" y="1017725"/>
            <a:ext cx="4049950" cy="38209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800"/>
              <a:t>Thank You!</a:t>
            </a:r>
            <a:endParaRPr sz="5800"/>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