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Lobster"/>
      <p:regular r:id="rId16"/>
    </p:embeddedFont>
    <p:embeddedFont>
      <p:font typeface="Arial Narrow"/>
      <p:regular r:id="rId17"/>
      <p:bold r:id="rId18"/>
      <p:italic r:id="rId19"/>
      <p:boldItalic r:id="rId20"/>
    </p:embeddedFont>
    <p:embeddedFont>
      <p:font typeface="Helvetica Neue"/>
      <p:regular r:id="rId21"/>
      <p:bold r:id="rId22"/>
      <p:italic r:id="rId23"/>
      <p:boldItalic r:id="rId24"/>
    </p:embeddedFont>
    <p:embeddedFont>
      <p:font typeface="Helvetica Neue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iegeWUqf0s0vV90e4fQxDAPR6i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alNarrow-boldItalic.fntdata"/><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Light-bold.fntdata"/><Relationship Id="rId25" Type="http://schemas.openxmlformats.org/officeDocument/2006/relationships/font" Target="fonts/HelveticaNeueLight-regular.fntdata"/><Relationship Id="rId28" Type="http://schemas.openxmlformats.org/officeDocument/2006/relationships/font" Target="fonts/HelveticaNeueLight-boldItalic.fntdata"/><Relationship Id="rId27" Type="http://schemas.openxmlformats.org/officeDocument/2006/relationships/font" Target="fonts/HelveticaNeueLigh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ArialNarrow-regular.fntdata"/><Relationship Id="rId16" Type="http://schemas.openxmlformats.org/officeDocument/2006/relationships/font" Target="fonts/Lobster-regular.fntdata"/><Relationship Id="rId19" Type="http://schemas.openxmlformats.org/officeDocument/2006/relationships/font" Target="fonts/ArialNarrow-italic.fntdata"/><Relationship Id="rId18" Type="http://schemas.openxmlformats.org/officeDocument/2006/relationships/font" Target="fonts/ArialNarr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2a45475e6c2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g2a45475e6c2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Triton = messenger of the sea</a:t>
            </a:r>
            <a:endParaRPr/>
          </a:p>
          <a:p>
            <a:pPr indent="0" lvl="0" marL="0" rtl="0" algn="l">
              <a:lnSpc>
                <a:spcPct val="100000"/>
              </a:lnSpc>
              <a:spcBef>
                <a:spcPts val="0"/>
              </a:spcBef>
              <a:spcAft>
                <a:spcPts val="0"/>
              </a:spcAft>
              <a:buSzPts val="1100"/>
              <a:buNone/>
            </a:pPr>
            <a:r>
              <a:rPr lang="en"/>
              <a:t>Maybe smth about navigation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 sz="1200" u="none" cap="none" strike="noStrike">
                <a:solidFill>
                  <a:schemeClr val="dk1"/>
                </a:solidFill>
                <a:latin typeface="Calibri"/>
                <a:ea typeface="Calibri"/>
                <a:cs typeface="Calibri"/>
                <a:sym typeface="Calibri"/>
              </a:rPr>
              <a:t>Note that sometimes you need more than one value proposition. For example if the beneficiary does not pay you, then you need one value proposition for your beneficiary and one for your paying customer.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Raymarine differences:</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Expense</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 integrated, not multi-functional</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Intended for larger, motorized vessels</a:t>
            </a:r>
            <a:endParaRPr sz="1200">
              <a:solidFill>
                <a:schemeClr val="dk1"/>
              </a:solidFill>
              <a:latin typeface="Calibri"/>
              <a:ea typeface="Calibri"/>
              <a:cs typeface="Calibri"/>
              <a:sym typeface="Calibri"/>
            </a:endParaRPr>
          </a:p>
        </p:txBody>
      </p:sp>
      <p:sp>
        <p:nvSpPr>
          <p:cNvPr id="59" name="Google Shape;5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0ccbcf856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30ccbcf8564_1_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1200"/>
              </a:spcBef>
              <a:spcAft>
                <a:spcPts val="0"/>
              </a:spcAft>
              <a:buSzPts val="1100"/>
              <a:buNone/>
            </a:pPr>
            <a:r>
              <a:t/>
            </a:r>
            <a:endParaRPr/>
          </a:p>
          <a:p>
            <a:pPr indent="0" lvl="0" marL="0" rtl="0" algn="l">
              <a:lnSpc>
                <a:spcPct val="100000"/>
              </a:lnSpc>
              <a:spcBef>
                <a:spcPts val="0"/>
              </a:spcBef>
              <a:spcAft>
                <a:spcPts val="0"/>
              </a:spcAft>
              <a:buSzPts val="1100"/>
              <a:buNone/>
            </a:pPr>
            <a:r>
              <a:rPr lang="en"/>
              <a:t>Lagoy’s story</a:t>
            </a:r>
            <a:endParaRPr/>
          </a:p>
          <a:p>
            <a:pPr indent="-298450" lvl="0" marL="457200" rtl="0" algn="just">
              <a:lnSpc>
                <a:spcPct val="115000"/>
              </a:lnSpc>
              <a:spcBef>
                <a:spcPts val="0"/>
              </a:spcBef>
              <a:spcAft>
                <a:spcPts val="0"/>
              </a:spcAft>
              <a:buSzPts val="1100"/>
              <a:buChar char="-"/>
            </a:pPr>
            <a:r>
              <a:rPr lang="en" sz="900">
                <a:solidFill>
                  <a:schemeClr val="dk1"/>
                </a:solidFill>
                <a:latin typeface="Calibri"/>
                <a:ea typeface="Calibri"/>
                <a:cs typeface="Calibri"/>
                <a:sym typeface="Calibri"/>
              </a:rPr>
              <a:t>Sailing in a crowded harbor or racing alongside other boats in close proximity is challenging, especially when sailing singlehandedly. Oftentimes, the skipper's field of view is blocked by the main and front sails, so it is difficult to maintain a visual on obstructions or other boats. Additionally,  docking under sail or even under power can present difficulties to the skipper, under many conditions, such as unfavorable wind direction, current, or limited visibility. This project aims to develop a robust and portable sensor system that will aid sailors while underway and docking, and present the status to the user via a BLE connected iOS app. The sensor system can potentially be used in the future to optimize skipper sailing performance. </a:t>
            </a:r>
            <a:endParaRPr/>
          </a:p>
          <a:p>
            <a:pPr indent="0" lvl="0" marL="0" rtl="0" algn="l">
              <a:lnSpc>
                <a:spcPct val="100000"/>
              </a:lnSpc>
              <a:spcBef>
                <a:spcPts val="1000"/>
              </a:spcBef>
              <a:spcAft>
                <a:spcPts val="0"/>
              </a:spcAft>
              <a:buSzPts val="1100"/>
              <a:buNone/>
            </a:pPr>
            <a:r>
              <a:rPr lang="en"/>
              <a:t>Research sailboat incidents</a:t>
            </a:r>
            <a:endParaRPr/>
          </a:p>
          <a:p>
            <a:pPr indent="-298450" lvl="0" marL="457200" rtl="0" algn="l">
              <a:lnSpc>
                <a:spcPct val="100000"/>
              </a:lnSpc>
              <a:spcBef>
                <a:spcPts val="0"/>
              </a:spcBef>
              <a:spcAft>
                <a:spcPts val="0"/>
              </a:spcAft>
              <a:buSzPts val="1100"/>
              <a:buChar char="-"/>
            </a:pPr>
            <a:r>
              <a:rPr lang="en"/>
              <a:t>Inexperienced sailors causing accidents</a:t>
            </a:r>
            <a:endParaRPr/>
          </a:p>
          <a:p>
            <a:pPr indent="0" lvl="0" marL="0" rtl="0" algn="l">
              <a:lnSpc>
                <a:spcPct val="100000"/>
              </a:lnSpc>
              <a:spcBef>
                <a:spcPts val="0"/>
              </a:spcBef>
              <a:spcAft>
                <a:spcPts val="0"/>
              </a:spcAft>
              <a:buSzPts val="1100"/>
              <a:buNone/>
            </a:pPr>
            <a:r>
              <a:rPr lang="en"/>
              <a:t>Pull from PDRR (Why this is a problem, how we solve it)</a:t>
            </a:r>
            <a:endParaRPr/>
          </a:p>
          <a:p>
            <a:pPr indent="-304800" lvl="0" marL="457200" rtl="0" algn="l">
              <a:lnSpc>
                <a:spcPct val="10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When sailing alongside other boats in busy and crowded waters, sailors often have to make split second decisions, where any mistake could result in thousands of dollars in damages and potentially death. In 2023 the United States Coast Guard reported that the top three causes for recreational boating accidents were operator inattention, improper lookout, and operator inexperience. Overall in 2023 alone there were 564 deaths and 63 million dollars in damages due to boating related accidents.</a:t>
            </a:r>
            <a:r>
              <a:rPr baseline="30000" lang="en" sz="1200">
                <a:solidFill>
                  <a:schemeClr val="dk1"/>
                </a:solidFill>
                <a:latin typeface="Times New Roman"/>
                <a:ea typeface="Times New Roman"/>
                <a:cs typeface="Times New Roman"/>
                <a:sym typeface="Times New Roman"/>
              </a:rPr>
              <a:t>[5]</a:t>
            </a:r>
            <a:r>
              <a:rPr lang="en" sz="1200">
                <a:solidFill>
                  <a:schemeClr val="dk1"/>
                </a:solidFill>
                <a:latin typeface="Times New Roman"/>
                <a:ea typeface="Times New Roman"/>
                <a:cs typeface="Times New Roman"/>
                <a:sym typeface="Times New Roman"/>
              </a:rPr>
              <a:t> Sailing often has an incredibly high learning curve for new and experienced sailors alike and leaves little margin for error. Triton aims to solve some of these issues and help lower the learning curve for sailing by providing sailors with an additional layer of safety and accessibility not often afforded to boats of this kind. The system is designed to be easily integrated into any sailboat, taking only a few minutes to install. Triton aims to assist sailors with docking procedures, sailing protocol, detecting obstacles, accessibility, and recommending course adjustments to the user through a mobile app. Through various sensors, Triton will be able to collect the necessary data to best predict sailing conditions and with the oversight of the sailor, act as a second set of eyes in the event of an operator oversight.</a:t>
            </a:r>
            <a:endParaRPr sz="1200">
              <a:solidFill>
                <a:schemeClr val="dk1"/>
              </a:solidFill>
              <a:latin typeface="Times New Roman"/>
              <a:ea typeface="Times New Roman"/>
              <a:cs typeface="Times New Roman"/>
              <a:sym typeface="Times New Roman"/>
            </a:endParaRPr>
          </a:p>
        </p:txBody>
      </p:sp>
      <p:sp>
        <p:nvSpPr>
          <p:cNvPr id="71" name="Google Shape;71;g30ccbcf8564_1_0: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Calibri"/>
              <a:buNone/>
            </a:pPr>
            <a:r>
              <a:rPr lang="en" sz="1200">
                <a:solidFill>
                  <a:schemeClr val="dk1"/>
                </a:solidFill>
                <a:latin typeface="Calibri"/>
                <a:ea typeface="Calibri"/>
                <a:cs typeface="Calibri"/>
                <a:sym typeface="Calibri"/>
              </a:rPr>
              <a:t>Special sauce </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Lightweight</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Easy to install, easy to uninstall</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Adaptable to different vessels</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Recommendations on how do react to approaching vehicles/objects/etc</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Technology solution</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BLE</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GPS</a:t>
            </a:r>
            <a:endParaRPr sz="1200">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Anemometer</a:t>
            </a:r>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a45475e6c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a45475e6c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0ccbcf85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0ccbcf856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Hardware implementation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Maybe bring up here the two different CPU placements we’ve discussed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Kevin’s sketches of clamp → CAD model?</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Ley monday night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Diego to modify the current design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rPr lang="en"/>
              <a:t>Software implementation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Keep two code flow diagrams</a:t>
            </a:r>
            <a:endParaRPr/>
          </a:p>
        </p:txBody>
      </p:sp>
      <p:sp>
        <p:nvSpPr>
          <p:cNvPr id="105" name="Google Shape;10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80"/>
              </a:spcBef>
              <a:spcAft>
                <a:spcPts val="0"/>
              </a:spcAft>
              <a:buClr>
                <a:schemeClr val="dk1"/>
              </a:buClr>
              <a:buSzPts val="2400"/>
              <a:buFont typeface="Arial"/>
              <a:buNone/>
            </a:pPr>
            <a:r>
              <a:rPr lang="en" sz="2400">
                <a:solidFill>
                  <a:schemeClr val="dk1"/>
                </a:solidFill>
              </a:rPr>
              <a:t>Describe your essential user stories (without them, the product won’t be useful)</a:t>
            </a:r>
            <a:endParaRPr/>
          </a:p>
          <a:p>
            <a:pPr indent="0" lvl="0" marL="0" rtl="0" algn="l">
              <a:lnSpc>
                <a:spcPct val="100000"/>
              </a:lnSpc>
              <a:spcBef>
                <a:spcPts val="1200"/>
              </a:spcBef>
              <a:spcAft>
                <a:spcPts val="0"/>
              </a:spcAft>
              <a:buSzPts val="1100"/>
              <a:buNone/>
            </a:pPr>
            <a:r>
              <a:rPr lang="en"/>
              <a:t>Either with your own purchased model or from your local boating club, you can carry your Triton on board. With our clamping system you can mount the 3 object sensors on the front and sides of your boat wherever it is most convenient. You can then mount the telescoping pole near the back of your boat, raising and lowering the two ends, once securely attached to the vessel. And now you’re done! The sensors will work to process the data they receive and use your phone to alert you of any nearby objects and provide recommendations for avoiding collisions</a:t>
            </a:r>
            <a:endParaRPr/>
          </a:p>
          <a:p>
            <a:pPr indent="0" lvl="0" marL="0" rtl="0" algn="l">
              <a:lnSpc>
                <a:spcPct val="1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114" name="Google Shape;114;p4: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0ccbcf856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0ccbcf8564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Cloud</a:t>
            </a:r>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Keep track of past trips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Keep track of timing</a:t>
            </a:r>
            <a:endParaRPr/>
          </a:p>
          <a:p>
            <a:pPr indent="0" lvl="0" marL="0" rtl="0" algn="l">
              <a:lnSpc>
                <a:spcPct val="100000"/>
              </a:lnSpc>
              <a:spcBef>
                <a:spcPts val="0"/>
              </a:spcBef>
              <a:spcAft>
                <a:spcPts val="0"/>
              </a:spcAft>
              <a:buSzPts val="1100"/>
              <a:buNone/>
            </a:pPr>
            <a:r>
              <a:rPr lang="en"/>
              <a:t>Custom PCB</a:t>
            </a:r>
            <a:endParaRPr/>
          </a:p>
          <a:p>
            <a:pPr indent="0" lvl="0" marL="0" rtl="0" algn="l">
              <a:lnSpc>
                <a:spcPct val="100000"/>
              </a:lnSpc>
              <a:spcBef>
                <a:spcPts val="0"/>
              </a:spcBef>
              <a:spcAft>
                <a:spcPts val="0"/>
              </a:spcAft>
              <a:buSzPts val="1100"/>
              <a:buNone/>
            </a:pPr>
            <a:r>
              <a:rPr lang="en"/>
              <a:t>Android companion app</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d37c2cb1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0d37c2cb1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3" name="Shape 13"/>
        <p:cNvGrpSpPr/>
        <p:nvPr/>
      </p:nvGrpSpPr>
      <p:grpSpPr>
        <a:xfrm>
          <a:off x="0" y="0"/>
          <a:ext cx="0" cy="0"/>
          <a:chOff x="0" y="0"/>
          <a:chExt cx="0" cy="0"/>
        </a:xfrm>
      </p:grpSpPr>
      <p:sp>
        <p:nvSpPr>
          <p:cNvPr id="14" name="Google Shape;14;p9"/>
          <p:cNvSpPr/>
          <p:nvPr/>
        </p:nvSpPr>
        <p:spPr>
          <a:xfrm>
            <a:off x="-12695" y="-8402"/>
            <a:ext cx="2937900" cy="5160300"/>
          </a:xfrm>
          <a:prstGeom prst="rect">
            <a:avLst/>
          </a:prstGeom>
          <a:solidFill>
            <a:schemeClr val="accent1"/>
          </a:solidFill>
          <a:ln>
            <a:noFill/>
          </a:ln>
        </p:spPr>
        <p:txBody>
          <a:bodyPr anchorCtr="0" anchor="ctr" bIns="45700" lIns="457200" spcFirstLastPara="1" rIns="182875" wrap="square" tIns="45700">
            <a:noAutofit/>
          </a:bodyPr>
          <a:lstStyle/>
          <a:p>
            <a:pPr indent="0" lvl="0" marL="0" marR="0" rtl="0" algn="l">
              <a:lnSpc>
                <a:spcPct val="110000"/>
              </a:lnSpc>
              <a:spcBef>
                <a:spcPts val="0"/>
              </a:spcBef>
              <a:spcAft>
                <a:spcPts val="0"/>
              </a:spcAft>
              <a:buClr>
                <a:srgbClr val="000000"/>
              </a:buClr>
              <a:buSzPts val="1800"/>
              <a:buFont typeface="Arial"/>
              <a:buNone/>
            </a:pPr>
            <a:r>
              <a:t/>
            </a:r>
            <a:endParaRPr b="0" i="0" sz="1800" u="none" cap="none" strike="noStrike">
              <a:solidFill>
                <a:schemeClr val="lt1"/>
              </a:solidFill>
              <a:latin typeface="Arial Narrow"/>
              <a:ea typeface="Arial Narrow"/>
              <a:cs typeface="Arial Narrow"/>
              <a:sym typeface="Arial Narrow"/>
            </a:endParaRPr>
          </a:p>
        </p:txBody>
      </p:sp>
      <p:sp>
        <p:nvSpPr>
          <p:cNvPr id="15" name="Google Shape;15;p9"/>
          <p:cNvSpPr txBox="1"/>
          <p:nvPr>
            <p:ph idx="1" type="body"/>
          </p:nvPr>
        </p:nvSpPr>
        <p:spPr>
          <a:xfrm>
            <a:off x="3183467" y="558800"/>
            <a:ext cx="5503200" cy="3699300"/>
          </a:xfrm>
          <a:prstGeom prst="rect">
            <a:avLst/>
          </a:prstGeom>
          <a:noFill/>
          <a:ln>
            <a:noFill/>
          </a:ln>
        </p:spPr>
        <p:txBody>
          <a:bodyPr anchorCtr="0" anchor="t" bIns="91425" lIns="91425" spcFirstLastPara="1" rIns="91425" wrap="square" tIns="91425">
            <a:normAutofit/>
          </a:bodyPr>
          <a:lstStyle>
            <a:lvl1pPr indent="-381000" lvl="0" marL="457200" marR="0" algn="l">
              <a:lnSpc>
                <a:spcPct val="115000"/>
              </a:lnSpc>
              <a:spcBef>
                <a:spcPts val="480"/>
              </a:spcBef>
              <a:spcAft>
                <a:spcPts val="0"/>
              </a:spcAft>
              <a:buClr>
                <a:schemeClr val="dk1"/>
              </a:buClr>
              <a:buSzPts val="2400"/>
              <a:buFont typeface="Arial"/>
              <a:buChar char="•"/>
              <a:defRPr b="0" i="0" sz="2400" u="none" cap="none" strike="noStrike">
                <a:solidFill>
                  <a:schemeClr val="dk1"/>
                </a:solidFill>
                <a:latin typeface="Helvetica Neue Light"/>
                <a:ea typeface="Helvetica Neue Light"/>
                <a:cs typeface="Helvetica Neue Light"/>
                <a:sym typeface="Helvetica Neue Light"/>
              </a:defRPr>
            </a:lvl1pPr>
            <a:lvl2pPr indent="-381000" lvl="1" marL="914400" marR="0" algn="l">
              <a:lnSpc>
                <a:spcPct val="115000"/>
              </a:lnSpc>
              <a:spcBef>
                <a:spcPts val="1200"/>
              </a:spcBef>
              <a:spcAft>
                <a:spcPts val="0"/>
              </a:spcAft>
              <a:buClr>
                <a:schemeClr val="dk1"/>
              </a:buClr>
              <a:buSzPts val="2400"/>
              <a:buFont typeface="Arial"/>
              <a:buChar char="–"/>
              <a:defRPr b="0" i="0" sz="2400" u="none" cap="none" strike="noStrike">
                <a:solidFill>
                  <a:schemeClr val="dk1"/>
                </a:solidFill>
                <a:latin typeface="Helvetica Neue Light"/>
                <a:ea typeface="Helvetica Neue Light"/>
                <a:cs typeface="Helvetica Neue Light"/>
                <a:sym typeface="Helvetica Neue Light"/>
              </a:defRPr>
            </a:lvl2pPr>
            <a:lvl3pPr indent="-381000" lvl="2" marL="1371600" marR="0" algn="l">
              <a:lnSpc>
                <a:spcPct val="115000"/>
              </a:lnSpc>
              <a:spcBef>
                <a:spcPts val="1200"/>
              </a:spcBef>
              <a:spcAft>
                <a:spcPts val="0"/>
              </a:spcAft>
              <a:buClr>
                <a:schemeClr val="dk1"/>
              </a:buClr>
              <a:buSzPts val="2400"/>
              <a:buFont typeface="Arial"/>
              <a:buChar char="•"/>
              <a:defRPr b="0" i="0" sz="2400" u="none" cap="none" strike="noStrike">
                <a:solidFill>
                  <a:schemeClr val="dk1"/>
                </a:solidFill>
                <a:latin typeface="Helvetica Neue Light"/>
                <a:ea typeface="Helvetica Neue Light"/>
                <a:cs typeface="Helvetica Neue Light"/>
                <a:sym typeface="Helvetica Neue Light"/>
              </a:defRPr>
            </a:lvl3pPr>
            <a:lvl4pPr indent="-381000" lvl="3" marL="1828800" marR="0" algn="l">
              <a:lnSpc>
                <a:spcPct val="115000"/>
              </a:lnSpc>
              <a:spcBef>
                <a:spcPts val="1200"/>
              </a:spcBef>
              <a:spcAft>
                <a:spcPts val="0"/>
              </a:spcAft>
              <a:buClr>
                <a:schemeClr val="dk1"/>
              </a:buClr>
              <a:buSzPts val="2400"/>
              <a:buFont typeface="Arial"/>
              <a:buChar char="–"/>
              <a:defRPr b="0" i="0" sz="2400" u="none" cap="none" strike="noStrike">
                <a:solidFill>
                  <a:schemeClr val="dk1"/>
                </a:solidFill>
                <a:latin typeface="Helvetica Neue Light"/>
                <a:ea typeface="Helvetica Neue Light"/>
                <a:cs typeface="Helvetica Neue Light"/>
                <a:sym typeface="Helvetica Neue Light"/>
              </a:defRPr>
            </a:lvl4pPr>
            <a:lvl5pPr indent="-381000" lvl="4" marL="2286000" marR="0" algn="l">
              <a:lnSpc>
                <a:spcPct val="115000"/>
              </a:lnSpc>
              <a:spcBef>
                <a:spcPts val="1200"/>
              </a:spcBef>
              <a:spcAft>
                <a:spcPts val="0"/>
              </a:spcAft>
              <a:buClr>
                <a:schemeClr val="dk1"/>
              </a:buClr>
              <a:buSzPts val="2400"/>
              <a:buFont typeface="Arial"/>
              <a:buChar char="»"/>
              <a:defRPr b="0" i="0" sz="2400" u="none" cap="none" strike="noStrike">
                <a:solidFill>
                  <a:schemeClr val="dk1"/>
                </a:solidFill>
                <a:latin typeface="Helvetica Neue Light"/>
                <a:ea typeface="Helvetica Neue Light"/>
                <a:cs typeface="Helvetica Neue Light"/>
                <a:sym typeface="Helvetica Neue Light"/>
              </a:defRPr>
            </a:lvl5pPr>
            <a:lvl6pPr indent="-355600" lvl="5" marL="2743200" marR="0" algn="l">
              <a:lnSpc>
                <a:spcPct val="115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15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15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15000"/>
              </a:lnSpc>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9"/>
          <p:cNvSpPr txBox="1"/>
          <p:nvPr>
            <p:ph type="title"/>
          </p:nvPr>
        </p:nvSpPr>
        <p:spPr>
          <a:xfrm>
            <a:off x="254005" y="558802"/>
            <a:ext cx="2404500" cy="38352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FFFFFF"/>
              </a:buClr>
              <a:buSzPts val="2800"/>
              <a:buFont typeface="Helvetica Neue Light"/>
              <a:buNone/>
              <a:defRPr b="0" i="0" sz="2800" u="none" cap="none" strike="noStrike">
                <a:solidFill>
                  <a:srgbClr val="FFFFF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9"/>
          <p:cNvSpPr txBox="1"/>
          <p:nvPr>
            <p:ph idx="12" type="sldNum"/>
          </p:nvPr>
        </p:nvSpPr>
        <p:spPr>
          <a:xfrm>
            <a:off x="8754534" y="4952989"/>
            <a:ext cx="296400" cy="207600"/>
          </a:xfrm>
          <a:prstGeom prst="rect">
            <a:avLst/>
          </a:prstGeom>
          <a:noFill/>
          <a:ln>
            <a:noFill/>
          </a:ln>
        </p:spPr>
        <p:txBody>
          <a:bodyPr anchorCtr="1" anchor="t" bIns="45700" lIns="91425" spcFirstLastPara="1" rIns="91425" wrap="square" tIns="45700">
            <a:norm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BFBFBF"/>
                </a:solidFill>
                <a:latin typeface="Helvetica Neue Light"/>
                <a:ea typeface="Helvetica Neue Light"/>
                <a:cs typeface="Helvetica Neue Light"/>
                <a:sym typeface="Helvetica Neue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51" name="Shape 51"/>
        <p:cNvGrpSpPr/>
        <p:nvPr/>
      </p:nvGrpSpPr>
      <p:grpSpPr>
        <a:xfrm>
          <a:off x="0" y="0"/>
          <a:ext cx="0" cy="0"/>
          <a:chOff x="0" y="0"/>
          <a:chExt cx="0" cy="0"/>
        </a:xfrm>
      </p:grpSpPr>
      <p:sp>
        <p:nvSpPr>
          <p:cNvPr id="52" name="Google Shape;52;g2a45475e6c2_0_43"/>
          <p:cNvSpPr/>
          <p:nvPr/>
        </p:nvSpPr>
        <p:spPr>
          <a:xfrm>
            <a:off x="2707950" y="565150"/>
            <a:ext cx="3728100" cy="3716400"/>
          </a:xfrm>
          <a:prstGeom prst="ellipse">
            <a:avLst/>
          </a:prstGeom>
          <a:solidFill>
            <a:schemeClr val="accent5"/>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 name="Google Shape;53;g2a45475e6c2_0_43"/>
          <p:cNvPicPr preferRelativeResize="0"/>
          <p:nvPr/>
        </p:nvPicPr>
        <p:blipFill>
          <a:blip r:embed="rId3">
            <a:alphaModFix/>
          </a:blip>
          <a:stretch>
            <a:fillRect/>
          </a:stretch>
        </p:blipFill>
        <p:spPr>
          <a:xfrm>
            <a:off x="3276999" y="565150"/>
            <a:ext cx="2590054" cy="3716450"/>
          </a:xfrm>
          <a:prstGeom prst="rect">
            <a:avLst/>
          </a:prstGeom>
          <a:noFill/>
          <a:ln>
            <a:noFill/>
          </a:ln>
        </p:spPr>
      </p:pic>
      <p:sp>
        <p:nvSpPr>
          <p:cNvPr id="54" name="Google Shape;54;g2a45475e6c2_0_43"/>
          <p:cNvSpPr txBox="1"/>
          <p:nvPr>
            <p:ph type="ctrTitle"/>
          </p:nvPr>
        </p:nvSpPr>
        <p:spPr>
          <a:xfrm>
            <a:off x="515771" y="24266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solidFill>
                  <a:srgbClr val="000000"/>
                </a:solidFill>
              </a:rPr>
              <a:t>	  </a:t>
            </a:r>
            <a:r>
              <a:rPr lang="en">
                <a:solidFill>
                  <a:srgbClr val="000000"/>
                </a:solidFill>
                <a:latin typeface="Lobster"/>
                <a:ea typeface="Lobster"/>
                <a:cs typeface="Lobster"/>
                <a:sym typeface="Lobster"/>
              </a:rPr>
              <a:t> </a:t>
            </a:r>
            <a:r>
              <a:rPr lang="en" sz="7500">
                <a:solidFill>
                  <a:srgbClr val="000000"/>
                </a:solidFill>
                <a:latin typeface="Lobster"/>
                <a:ea typeface="Lobster"/>
                <a:cs typeface="Lobster"/>
                <a:sym typeface="Lobster"/>
              </a:rPr>
              <a:t>    riton</a:t>
            </a:r>
            <a:endParaRPr sz="7500">
              <a:solidFill>
                <a:srgbClr val="000000"/>
              </a:solidFill>
              <a:latin typeface="Lobster"/>
              <a:ea typeface="Lobster"/>
              <a:cs typeface="Lobster"/>
              <a:sym typeface="Lobster"/>
            </a:endParaRPr>
          </a:p>
        </p:txBody>
      </p:sp>
      <p:sp>
        <p:nvSpPr>
          <p:cNvPr id="55" name="Google Shape;55;g2a45475e6c2_0_43"/>
          <p:cNvSpPr txBox="1"/>
          <p:nvPr/>
        </p:nvSpPr>
        <p:spPr>
          <a:xfrm>
            <a:off x="2083100" y="1270725"/>
            <a:ext cx="51345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500">
                <a:solidFill>
                  <a:schemeClr val="dk1"/>
                </a:solidFill>
                <a:latin typeface="Lobster"/>
                <a:ea typeface="Lobster"/>
                <a:cs typeface="Lobster"/>
                <a:sym typeface="Lobster"/>
              </a:rPr>
              <a:t>The</a:t>
            </a:r>
            <a:endParaRPr sz="7500">
              <a:solidFill>
                <a:schemeClr val="dk1"/>
              </a:solidFill>
              <a:latin typeface="Lobster"/>
              <a:ea typeface="Lobster"/>
              <a:cs typeface="Lobster"/>
              <a:sym typeface="Lobs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1000"/>
                                        <p:tgtEl>
                                          <p:spTgt spid="52"/>
                                        </p:tgtEl>
                                      </p:cBhvr>
                                    </p:animEffect>
                                  </p:childTnLst>
                                </p:cTn>
                              </p:par>
                              <p:par>
                                <p:cTn fill="hold" nodeType="with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1000"/>
                                        <p:tgtEl>
                                          <p:spTgt spid="53"/>
                                        </p:tgtEl>
                                      </p:cBhvr>
                                    </p:animEffect>
                                  </p:childTnLst>
                                </p:cTn>
                              </p:par>
                              <p:par>
                                <p:cTn fill="hold" nodeType="withEffect" presetClass="entr" presetID="2" presetSubtype="2">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1000"/>
                                        <p:tgtEl>
                                          <p:spTgt spid="5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1000"/>
                                        <p:tgtEl>
                                          <p:spTgt spid="5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p2"/>
          <p:cNvSpPr txBox="1"/>
          <p:nvPr>
            <p:ph type="title"/>
          </p:nvPr>
        </p:nvSpPr>
        <p:spPr>
          <a:xfrm>
            <a:off x="254005" y="558802"/>
            <a:ext cx="2404500" cy="38352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800"/>
              <a:buFont typeface="Helvetica Neue Light"/>
              <a:buNone/>
            </a:pPr>
            <a:r>
              <a:rPr lang="en" sz="3200">
                <a:latin typeface="Arial"/>
                <a:ea typeface="Arial"/>
                <a:cs typeface="Arial"/>
                <a:sym typeface="Arial"/>
              </a:rPr>
              <a:t>What is The Triton? </a:t>
            </a:r>
            <a:endParaRPr sz="3200">
              <a:latin typeface="Arial"/>
              <a:ea typeface="Arial"/>
              <a:cs typeface="Arial"/>
              <a:sym typeface="Arial"/>
            </a:endParaRPr>
          </a:p>
          <a:p>
            <a:pPr indent="0" lvl="0" marL="0" marR="0" rtl="0" algn="l">
              <a:lnSpc>
                <a:spcPct val="100000"/>
              </a:lnSpc>
              <a:spcBef>
                <a:spcPts val="0"/>
              </a:spcBef>
              <a:spcAft>
                <a:spcPts val="0"/>
              </a:spcAft>
              <a:buClr>
                <a:srgbClr val="FFFFFF"/>
              </a:buClr>
              <a:buSzPts val="2800"/>
              <a:buFont typeface="Helvetica Neue Light"/>
              <a:buNone/>
            </a:pPr>
            <a:r>
              <a:t/>
            </a:r>
            <a:endParaRPr sz="3200">
              <a:latin typeface="Arial"/>
              <a:ea typeface="Arial"/>
              <a:cs typeface="Arial"/>
              <a:sym typeface="Arial"/>
            </a:endParaRPr>
          </a:p>
          <a:p>
            <a:pPr indent="0" lvl="0" marL="0" marR="0" rtl="0" algn="l">
              <a:lnSpc>
                <a:spcPct val="100000"/>
              </a:lnSpc>
              <a:spcBef>
                <a:spcPts val="0"/>
              </a:spcBef>
              <a:spcAft>
                <a:spcPts val="0"/>
              </a:spcAft>
              <a:buClr>
                <a:srgbClr val="FFFFFF"/>
              </a:buClr>
              <a:buSzPts val="2800"/>
              <a:buFont typeface="Helvetica Neue Light"/>
              <a:buNone/>
            </a:pPr>
            <a:r>
              <a:rPr lang="en" sz="3200">
                <a:latin typeface="Arial"/>
                <a:ea typeface="Arial"/>
                <a:cs typeface="Arial"/>
                <a:sym typeface="Arial"/>
              </a:rPr>
              <a:t>Who is it for?</a:t>
            </a:r>
            <a:endParaRPr sz="3200">
              <a:latin typeface="Arial"/>
              <a:ea typeface="Arial"/>
              <a:cs typeface="Arial"/>
              <a:sym typeface="Arial"/>
            </a:endParaRPr>
          </a:p>
        </p:txBody>
      </p:sp>
      <p:sp>
        <p:nvSpPr>
          <p:cNvPr id="62" name="Google Shape;62;p2"/>
          <p:cNvSpPr txBox="1"/>
          <p:nvPr>
            <p:ph idx="12" type="sldNum"/>
          </p:nvPr>
        </p:nvSpPr>
        <p:spPr>
          <a:xfrm>
            <a:off x="8754534" y="4952989"/>
            <a:ext cx="296400" cy="207600"/>
          </a:xfrm>
          <a:prstGeom prst="rect">
            <a:avLst/>
          </a:prstGeom>
          <a:noFill/>
          <a:ln>
            <a:noFill/>
          </a:ln>
        </p:spPr>
        <p:txBody>
          <a:bodyPr anchorCtr="1" anchor="t" bIns="45700" lIns="91425" spcFirstLastPara="1" rIns="91425" wrap="square" tIns="45700">
            <a:normAutofit lnSpcReduction="10000"/>
          </a:bodyPr>
          <a:lstStyle/>
          <a:p>
            <a:pPr indent="0" lvl="0" marL="0" rtl="0" algn="l">
              <a:spcBef>
                <a:spcPts val="0"/>
              </a:spcBef>
              <a:spcAft>
                <a:spcPts val="0"/>
              </a:spcAft>
              <a:buClr>
                <a:srgbClr val="000000"/>
              </a:buClr>
              <a:buSzPts val="800"/>
              <a:buFont typeface="Arial"/>
              <a:buNone/>
            </a:pPr>
            <a:fld id="{00000000-1234-1234-1234-123412341234}" type="slidenum">
              <a:rPr lang="en"/>
              <a:t>‹#›</a:t>
            </a:fld>
            <a:endParaRPr/>
          </a:p>
        </p:txBody>
      </p:sp>
      <p:sp>
        <p:nvSpPr>
          <p:cNvPr id="63" name="Google Shape;63;p2"/>
          <p:cNvSpPr txBox="1"/>
          <p:nvPr>
            <p:ph idx="1" type="body"/>
          </p:nvPr>
        </p:nvSpPr>
        <p:spPr>
          <a:xfrm>
            <a:off x="3251325" y="175550"/>
            <a:ext cx="5503200" cy="46017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400"/>
              </a:spcBef>
              <a:spcAft>
                <a:spcPts val="0"/>
              </a:spcAft>
              <a:buClr>
                <a:srgbClr val="141313"/>
              </a:buClr>
              <a:buSzPts val="1800"/>
              <a:buChar char="-"/>
            </a:pPr>
            <a:r>
              <a:rPr b="1" lang="en" sz="1800">
                <a:solidFill>
                  <a:srgbClr val="141313"/>
                </a:solidFill>
                <a:latin typeface="Arial"/>
                <a:ea typeface="Arial"/>
                <a:cs typeface="Arial"/>
                <a:sym typeface="Arial"/>
              </a:rPr>
              <a:t>The Triton is a sailboat navigation and docking assistant</a:t>
            </a:r>
            <a:endParaRPr sz="2200">
              <a:latin typeface="Arial"/>
              <a:ea typeface="Arial"/>
              <a:cs typeface="Arial"/>
              <a:sym typeface="Arial"/>
            </a:endParaRPr>
          </a:p>
          <a:p>
            <a:pPr indent="-6350" lvl="2" marL="857250" rtl="0" algn="l">
              <a:lnSpc>
                <a:spcPct val="100000"/>
              </a:lnSpc>
              <a:spcBef>
                <a:spcPts val="400"/>
              </a:spcBef>
              <a:spcAft>
                <a:spcPts val="0"/>
              </a:spcAft>
              <a:buClr>
                <a:schemeClr val="dk1"/>
              </a:buClr>
              <a:buSzPts val="2400"/>
              <a:buFont typeface="Arial"/>
              <a:buNone/>
            </a:pPr>
            <a:r>
              <a:t/>
            </a:r>
            <a:endParaRPr b="1" sz="1800">
              <a:solidFill>
                <a:srgbClr val="141313"/>
              </a:solidFill>
              <a:latin typeface="Arial"/>
              <a:ea typeface="Arial"/>
              <a:cs typeface="Arial"/>
              <a:sym typeface="Arial"/>
            </a:endParaRPr>
          </a:p>
          <a:p>
            <a:pPr indent="-342900" lvl="0" marL="457200" rtl="0" algn="l">
              <a:lnSpc>
                <a:spcPct val="100000"/>
              </a:lnSpc>
              <a:spcBef>
                <a:spcPts val="0"/>
              </a:spcBef>
              <a:spcAft>
                <a:spcPts val="0"/>
              </a:spcAft>
              <a:buClr>
                <a:srgbClr val="141313"/>
              </a:buClr>
              <a:buSzPts val="1800"/>
              <a:buChar char="-"/>
            </a:pPr>
            <a:r>
              <a:rPr b="1" lang="en" sz="1800">
                <a:solidFill>
                  <a:srgbClr val="141313"/>
                </a:solidFill>
                <a:latin typeface="Arial"/>
                <a:ea typeface="Arial"/>
                <a:cs typeface="Arial"/>
                <a:sym typeface="Arial"/>
              </a:rPr>
              <a:t>For experienced and inexperienced sailors alike </a:t>
            </a:r>
            <a:r>
              <a:rPr b="1" lang="en" sz="1800">
                <a:solidFill>
                  <a:srgbClr val="141313"/>
                </a:solidFill>
                <a:latin typeface="Arial"/>
                <a:ea typeface="Arial"/>
                <a:cs typeface="Arial"/>
                <a:sym typeface="Arial"/>
              </a:rPr>
              <a:t>who want a more reliable sailing experience</a:t>
            </a:r>
            <a:endParaRPr b="1" sz="1800">
              <a:solidFill>
                <a:srgbClr val="141313"/>
              </a:solidFill>
              <a:latin typeface="Arial"/>
              <a:ea typeface="Arial"/>
              <a:cs typeface="Arial"/>
              <a:sym typeface="Arial"/>
            </a:endParaRPr>
          </a:p>
          <a:p>
            <a:pPr indent="-6350" lvl="2" marL="857250" rtl="0" algn="l">
              <a:lnSpc>
                <a:spcPct val="100000"/>
              </a:lnSpc>
              <a:spcBef>
                <a:spcPts val="400"/>
              </a:spcBef>
              <a:spcAft>
                <a:spcPts val="0"/>
              </a:spcAft>
              <a:buClr>
                <a:schemeClr val="dk1"/>
              </a:buClr>
              <a:buSzPts val="2400"/>
              <a:buFont typeface="Arial"/>
              <a:buNone/>
            </a:pPr>
            <a:r>
              <a:t/>
            </a:r>
            <a:endParaRPr b="1" sz="1800">
              <a:solidFill>
                <a:srgbClr val="141313"/>
              </a:solidFill>
              <a:latin typeface="Arial"/>
              <a:ea typeface="Arial"/>
              <a:cs typeface="Arial"/>
              <a:sym typeface="Arial"/>
            </a:endParaRPr>
          </a:p>
          <a:p>
            <a:pPr indent="-342900" lvl="0" marL="457200" rtl="0" algn="l">
              <a:lnSpc>
                <a:spcPct val="100000"/>
              </a:lnSpc>
              <a:spcBef>
                <a:spcPts val="400"/>
              </a:spcBef>
              <a:spcAft>
                <a:spcPts val="0"/>
              </a:spcAft>
              <a:buClr>
                <a:srgbClr val="141313"/>
              </a:buClr>
              <a:buSzPts val="1800"/>
              <a:buChar char="-"/>
            </a:pPr>
            <a:r>
              <a:rPr b="1" lang="en" sz="1800">
                <a:solidFill>
                  <a:srgbClr val="141313"/>
                </a:solidFill>
                <a:latin typeface="Arial"/>
                <a:ea typeface="Arial"/>
                <a:cs typeface="Arial"/>
                <a:sym typeface="Arial"/>
              </a:rPr>
              <a:t>That provides easier, safer trips</a:t>
            </a:r>
            <a:endParaRPr sz="2200">
              <a:latin typeface="Arial"/>
              <a:ea typeface="Arial"/>
              <a:cs typeface="Arial"/>
              <a:sym typeface="Arial"/>
            </a:endParaRPr>
          </a:p>
          <a:p>
            <a:pPr indent="-6350" lvl="2" marL="857250" rtl="0" algn="l">
              <a:lnSpc>
                <a:spcPct val="100000"/>
              </a:lnSpc>
              <a:spcBef>
                <a:spcPts val="400"/>
              </a:spcBef>
              <a:spcAft>
                <a:spcPts val="0"/>
              </a:spcAft>
              <a:buClr>
                <a:schemeClr val="dk1"/>
              </a:buClr>
              <a:buSzPts val="2400"/>
              <a:buFont typeface="Arial"/>
              <a:buNone/>
            </a:pPr>
            <a:r>
              <a:t/>
            </a:r>
            <a:endParaRPr b="1" sz="1800">
              <a:solidFill>
                <a:srgbClr val="141313"/>
              </a:solidFill>
              <a:latin typeface="Arial"/>
              <a:ea typeface="Arial"/>
              <a:cs typeface="Arial"/>
              <a:sym typeface="Arial"/>
            </a:endParaRPr>
          </a:p>
          <a:p>
            <a:pPr indent="-342900" lvl="0" marL="457200" rtl="0" algn="l">
              <a:lnSpc>
                <a:spcPct val="100000"/>
              </a:lnSpc>
              <a:spcBef>
                <a:spcPts val="400"/>
              </a:spcBef>
              <a:spcAft>
                <a:spcPts val="0"/>
              </a:spcAft>
              <a:buClr>
                <a:srgbClr val="141313"/>
              </a:buClr>
              <a:buSzPts val="1800"/>
              <a:buChar char="-"/>
            </a:pPr>
            <a:r>
              <a:rPr b="1" lang="en" sz="1800">
                <a:solidFill>
                  <a:srgbClr val="141313"/>
                </a:solidFill>
                <a:latin typeface="Arial"/>
                <a:ea typeface="Arial"/>
                <a:cs typeface="Arial"/>
                <a:sym typeface="Arial"/>
              </a:rPr>
              <a:t>Unlike Competitors</a:t>
            </a:r>
            <a:endParaRPr sz="2200">
              <a:latin typeface="Arial"/>
              <a:ea typeface="Arial"/>
              <a:cs typeface="Arial"/>
              <a:sym typeface="Arial"/>
            </a:endParaRPr>
          </a:p>
          <a:p>
            <a:pPr indent="-6350" lvl="2" marL="857250" rtl="0" algn="l">
              <a:lnSpc>
                <a:spcPct val="100000"/>
              </a:lnSpc>
              <a:spcBef>
                <a:spcPts val="400"/>
              </a:spcBef>
              <a:spcAft>
                <a:spcPts val="0"/>
              </a:spcAft>
              <a:buClr>
                <a:schemeClr val="dk1"/>
              </a:buClr>
              <a:buSzPts val="2400"/>
              <a:buFont typeface="Arial"/>
              <a:buNone/>
            </a:pPr>
            <a:r>
              <a:t/>
            </a:r>
            <a:endParaRPr b="1" sz="1800">
              <a:solidFill>
                <a:srgbClr val="141313"/>
              </a:solidFill>
              <a:latin typeface="Arial"/>
              <a:ea typeface="Arial"/>
              <a:cs typeface="Arial"/>
              <a:sym typeface="Arial"/>
            </a:endParaRPr>
          </a:p>
          <a:p>
            <a:pPr indent="-342900" lvl="0" marL="457200" rtl="0" algn="l">
              <a:lnSpc>
                <a:spcPct val="100000"/>
              </a:lnSpc>
              <a:spcBef>
                <a:spcPts val="400"/>
              </a:spcBef>
              <a:spcAft>
                <a:spcPts val="0"/>
              </a:spcAft>
              <a:buClr>
                <a:srgbClr val="141313"/>
              </a:buClr>
              <a:buSzPts val="1800"/>
              <a:buChar char="-"/>
            </a:pPr>
            <a:r>
              <a:rPr b="1" lang="en" sz="1800">
                <a:solidFill>
                  <a:srgbClr val="141313"/>
                </a:solidFill>
                <a:latin typeface="Arial"/>
                <a:ea typeface="Arial"/>
                <a:cs typeface="Arial"/>
                <a:sym typeface="Arial"/>
              </a:rPr>
              <a:t>Our product is integrated and multi-functional, cost-efficient, not specific to any vessel</a:t>
            </a:r>
            <a:endParaRPr b="1" sz="1800">
              <a:solidFill>
                <a:srgbClr val="141313"/>
              </a:solidFill>
              <a:latin typeface="Arial"/>
              <a:ea typeface="Arial"/>
              <a:cs typeface="Arial"/>
              <a:sym typeface="Arial"/>
            </a:endParaRPr>
          </a:p>
        </p:txBody>
      </p:sp>
      <p:sp>
        <p:nvSpPr>
          <p:cNvPr id="64" name="Google Shape;64;p2"/>
          <p:cNvSpPr/>
          <p:nvPr/>
        </p:nvSpPr>
        <p:spPr>
          <a:xfrm>
            <a:off x="4479667" y="2433250"/>
            <a:ext cx="1848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grpSp>
        <p:nvGrpSpPr>
          <p:cNvPr id="65" name="Google Shape;65;p2"/>
          <p:cNvGrpSpPr/>
          <p:nvPr/>
        </p:nvGrpSpPr>
        <p:grpSpPr>
          <a:xfrm>
            <a:off x="614441" y="3259044"/>
            <a:ext cx="1683610" cy="1655307"/>
            <a:chOff x="2707950" y="565150"/>
            <a:chExt cx="3728100" cy="3716450"/>
          </a:xfrm>
        </p:grpSpPr>
        <p:sp>
          <p:nvSpPr>
            <p:cNvPr id="66" name="Google Shape;66;p2"/>
            <p:cNvSpPr/>
            <p:nvPr/>
          </p:nvSpPr>
          <p:spPr>
            <a:xfrm>
              <a:off x="2707950" y="565150"/>
              <a:ext cx="3728100" cy="3716400"/>
            </a:xfrm>
            <a:prstGeom prst="ellipse">
              <a:avLst/>
            </a:prstGeom>
            <a:solidFill>
              <a:schemeClr val="accent5"/>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 name="Google Shape;67;p2"/>
            <p:cNvPicPr preferRelativeResize="0"/>
            <p:nvPr/>
          </p:nvPicPr>
          <p:blipFill>
            <a:blip r:embed="rId3">
              <a:alphaModFix/>
            </a:blip>
            <a:stretch>
              <a:fillRect/>
            </a:stretch>
          </p:blipFill>
          <p:spPr>
            <a:xfrm>
              <a:off x="3276999" y="565150"/>
              <a:ext cx="2590054" cy="3716450"/>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30ccbcf8564_1_0"/>
          <p:cNvSpPr txBox="1"/>
          <p:nvPr>
            <p:ph idx="1" type="body"/>
          </p:nvPr>
        </p:nvSpPr>
        <p:spPr>
          <a:xfrm>
            <a:off x="3203217" y="722100"/>
            <a:ext cx="5503200" cy="3699300"/>
          </a:xfrm>
          <a:prstGeom prst="rect">
            <a:avLst/>
          </a:prstGeom>
          <a:noFill/>
          <a:ln>
            <a:noFill/>
          </a:ln>
        </p:spPr>
        <p:txBody>
          <a:bodyPr anchorCtr="0" anchor="ctr" bIns="91425" lIns="91425" spcFirstLastPara="1" rIns="91425" wrap="square" tIns="91425">
            <a:noAutofit/>
          </a:bodyPr>
          <a:lstStyle/>
          <a:p>
            <a:pPr indent="-330200" lvl="0" marL="457200" rtl="0" algn="just">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Sailing in a crowded harbor or racing alongside other boats in close proximity is </a:t>
            </a:r>
            <a:r>
              <a:rPr b="1" lang="en" sz="1600">
                <a:latin typeface="Helvetica Neue"/>
                <a:ea typeface="Helvetica Neue"/>
                <a:cs typeface="Helvetica Neue"/>
                <a:sym typeface="Helvetica Neue"/>
              </a:rPr>
              <a:t>challenging</a:t>
            </a:r>
            <a:r>
              <a:rPr lang="en" sz="1600">
                <a:latin typeface="Helvetica Neue"/>
                <a:ea typeface="Helvetica Neue"/>
                <a:cs typeface="Helvetica Neue"/>
                <a:sym typeface="Helvetica Neue"/>
              </a:rPr>
              <a:t>, </a:t>
            </a:r>
            <a:endParaRPr sz="1600">
              <a:latin typeface="Helvetica Neue"/>
              <a:ea typeface="Helvetica Neue"/>
              <a:cs typeface="Helvetica Neue"/>
              <a:sym typeface="Helvetica Neue"/>
            </a:endParaRPr>
          </a:p>
          <a:p>
            <a:pPr indent="-330200" lvl="0" marL="457200" rtl="0" algn="just">
              <a:lnSpc>
                <a:spcPct val="115000"/>
              </a:lnSpc>
              <a:spcBef>
                <a:spcPts val="1000"/>
              </a:spcBef>
              <a:spcAft>
                <a:spcPts val="0"/>
              </a:spcAft>
              <a:buSzPts val="1600"/>
              <a:buFont typeface="Helvetica Neue"/>
              <a:buChar char="-"/>
            </a:pPr>
            <a:r>
              <a:rPr lang="en" sz="1600">
                <a:latin typeface="Helvetica Neue"/>
                <a:ea typeface="Helvetica Neue"/>
                <a:cs typeface="Helvetica Neue"/>
                <a:sym typeface="Helvetica Neue"/>
              </a:rPr>
              <a:t>Skipper's field of view is</a:t>
            </a:r>
            <a:r>
              <a:rPr b="1" lang="en" sz="1600">
                <a:latin typeface="Helvetica Neue"/>
                <a:ea typeface="Helvetica Neue"/>
                <a:cs typeface="Helvetica Neue"/>
                <a:sym typeface="Helvetica Neue"/>
              </a:rPr>
              <a:t> blocked</a:t>
            </a:r>
            <a:r>
              <a:rPr lang="en" sz="1600">
                <a:latin typeface="Helvetica Neue"/>
                <a:ea typeface="Helvetica Neue"/>
                <a:cs typeface="Helvetica Neue"/>
                <a:sym typeface="Helvetica Neue"/>
              </a:rPr>
              <a:t> by the main and front sails, </a:t>
            </a:r>
            <a:endParaRPr sz="1600">
              <a:latin typeface="Helvetica Neue"/>
              <a:ea typeface="Helvetica Neue"/>
              <a:cs typeface="Helvetica Neue"/>
              <a:sym typeface="Helvetica Neue"/>
            </a:endParaRPr>
          </a:p>
          <a:p>
            <a:pPr indent="-330200" lvl="0" marL="457200" rtl="0" algn="just">
              <a:lnSpc>
                <a:spcPct val="115000"/>
              </a:lnSpc>
              <a:spcBef>
                <a:spcPts val="1000"/>
              </a:spcBef>
              <a:spcAft>
                <a:spcPts val="0"/>
              </a:spcAft>
              <a:buSzPts val="1600"/>
              <a:buFont typeface="Helvetica Neue"/>
              <a:buChar char="-"/>
            </a:pPr>
            <a:r>
              <a:rPr lang="en" sz="1600">
                <a:latin typeface="Helvetica Neue"/>
                <a:ea typeface="Helvetica Neue"/>
                <a:cs typeface="Helvetica Neue"/>
                <a:sym typeface="Helvetica Neue"/>
              </a:rPr>
              <a:t>Docking can be </a:t>
            </a:r>
            <a:r>
              <a:rPr b="1" lang="en" sz="1600">
                <a:latin typeface="Helvetica Neue"/>
                <a:ea typeface="Helvetica Neue"/>
                <a:cs typeface="Helvetica Neue"/>
                <a:sym typeface="Helvetica Neue"/>
              </a:rPr>
              <a:t>difficult</a:t>
            </a:r>
            <a:r>
              <a:rPr lang="en" sz="1600">
                <a:latin typeface="Helvetica Neue"/>
                <a:ea typeface="Helvetica Neue"/>
                <a:cs typeface="Helvetica Neue"/>
                <a:sym typeface="Helvetica Neue"/>
              </a:rPr>
              <a:t> and </a:t>
            </a:r>
            <a:r>
              <a:rPr b="1" lang="en" sz="1600">
                <a:latin typeface="Helvetica Neue"/>
                <a:ea typeface="Helvetica Neue"/>
                <a:cs typeface="Helvetica Neue"/>
                <a:sym typeface="Helvetica Neue"/>
              </a:rPr>
              <a:t>dangerous</a:t>
            </a:r>
            <a:r>
              <a:rPr lang="en" sz="1600">
                <a:latin typeface="Helvetica Neue"/>
                <a:ea typeface="Helvetica Neue"/>
                <a:cs typeface="Helvetica Neue"/>
                <a:sym typeface="Helvetica Neue"/>
              </a:rPr>
              <a:t> to the skipper, under many conditions, such as </a:t>
            </a:r>
            <a:r>
              <a:rPr b="1" lang="en" sz="1600">
                <a:latin typeface="Helvetica Neue"/>
                <a:ea typeface="Helvetica Neue"/>
                <a:cs typeface="Helvetica Neue"/>
                <a:sym typeface="Helvetica Neue"/>
              </a:rPr>
              <a:t>unfavorable wind direction, current, or limited visibility</a:t>
            </a:r>
            <a:r>
              <a:rPr lang="en" sz="1600">
                <a:latin typeface="Helvetica Neue"/>
                <a:ea typeface="Helvetica Neue"/>
                <a:cs typeface="Helvetica Neue"/>
                <a:sym typeface="Helvetica Neue"/>
              </a:rPr>
              <a:t>.</a:t>
            </a:r>
            <a:endParaRPr sz="1600">
              <a:latin typeface="Helvetica Neue"/>
              <a:ea typeface="Helvetica Neue"/>
              <a:cs typeface="Helvetica Neue"/>
              <a:sym typeface="Helvetica Neue"/>
            </a:endParaRPr>
          </a:p>
          <a:p>
            <a:pPr indent="-330200" lvl="0" marL="457200" rtl="0" algn="just">
              <a:lnSpc>
                <a:spcPct val="115000"/>
              </a:lnSpc>
              <a:spcBef>
                <a:spcPts val="1000"/>
              </a:spcBef>
              <a:spcAft>
                <a:spcPts val="0"/>
              </a:spcAft>
              <a:buSzPts val="1600"/>
              <a:buFont typeface="Helvetica Neue"/>
              <a:buChar char="-"/>
            </a:pPr>
            <a:r>
              <a:rPr lang="en" sz="1600">
                <a:latin typeface="Helvetica Neue"/>
                <a:ea typeface="Helvetica Neue"/>
                <a:cs typeface="Helvetica Neue"/>
                <a:sym typeface="Helvetica Neue"/>
              </a:rPr>
              <a:t>In 2023 the United States Coast Guard reported that the top three causes for recreational boating accidents were </a:t>
            </a:r>
            <a:r>
              <a:rPr b="1" lang="en" sz="1600">
                <a:latin typeface="Helvetica Neue"/>
                <a:ea typeface="Helvetica Neue"/>
                <a:cs typeface="Helvetica Neue"/>
                <a:sym typeface="Helvetica Neue"/>
              </a:rPr>
              <a:t>operator inattention, improper lookout, and operator inexperience</a:t>
            </a:r>
            <a:r>
              <a:rPr lang="en" sz="1600">
                <a:latin typeface="Helvetica Neue"/>
                <a:ea typeface="Helvetica Neue"/>
                <a:cs typeface="Helvetica Neue"/>
                <a:sym typeface="Helvetica Neue"/>
              </a:rPr>
              <a:t>. </a:t>
            </a:r>
            <a:endParaRPr sz="1600">
              <a:latin typeface="Helvetica Neue"/>
              <a:ea typeface="Helvetica Neue"/>
              <a:cs typeface="Helvetica Neue"/>
              <a:sym typeface="Helvetica Neue"/>
            </a:endParaRPr>
          </a:p>
          <a:p>
            <a:pPr indent="-330200" lvl="0" marL="457200" rtl="0" algn="l">
              <a:lnSpc>
                <a:spcPct val="100000"/>
              </a:lnSpc>
              <a:spcBef>
                <a:spcPts val="1000"/>
              </a:spcBef>
              <a:spcAft>
                <a:spcPts val="0"/>
              </a:spcAft>
              <a:buSzPts val="1600"/>
              <a:buFont typeface="Helvetica Neue"/>
              <a:buChar char="-"/>
            </a:pPr>
            <a:r>
              <a:rPr lang="en" sz="1600">
                <a:latin typeface="Helvetica Neue"/>
                <a:ea typeface="Helvetica Neue"/>
                <a:cs typeface="Helvetica Neue"/>
                <a:sym typeface="Helvetica Neue"/>
              </a:rPr>
              <a:t>In 2023 alone, there were </a:t>
            </a:r>
            <a:r>
              <a:rPr b="1" lang="en" sz="1600">
                <a:latin typeface="Helvetica Neue"/>
                <a:ea typeface="Helvetica Neue"/>
                <a:cs typeface="Helvetica Neue"/>
                <a:sym typeface="Helvetica Neue"/>
              </a:rPr>
              <a:t>564 deaths and 63 million dollars in damages</a:t>
            </a:r>
            <a:r>
              <a:rPr lang="en" sz="1600">
                <a:latin typeface="Helvetica Neue"/>
                <a:ea typeface="Helvetica Neue"/>
                <a:cs typeface="Helvetica Neue"/>
                <a:sym typeface="Helvetica Neue"/>
              </a:rPr>
              <a:t> due to boating related accidents. </a:t>
            </a:r>
            <a:endParaRPr sz="1600">
              <a:latin typeface="Helvetica Neue"/>
              <a:ea typeface="Helvetica Neue"/>
              <a:cs typeface="Helvetica Neue"/>
              <a:sym typeface="Helvetica Neue"/>
            </a:endParaRPr>
          </a:p>
          <a:p>
            <a:pPr indent="0" lvl="0" marL="457200" rtl="0" algn="l">
              <a:lnSpc>
                <a:spcPct val="100000"/>
              </a:lnSpc>
              <a:spcBef>
                <a:spcPts val="0"/>
              </a:spcBef>
              <a:spcAft>
                <a:spcPts val="0"/>
              </a:spcAft>
              <a:buSzPts val="2400"/>
              <a:buNone/>
            </a:pPr>
            <a:r>
              <a:t/>
            </a:r>
            <a:endParaRPr sz="1600">
              <a:latin typeface="Helvetica Neue"/>
              <a:ea typeface="Helvetica Neue"/>
              <a:cs typeface="Helvetica Neue"/>
              <a:sym typeface="Helvetica Neue"/>
            </a:endParaRPr>
          </a:p>
          <a:p>
            <a:pPr indent="0" lvl="0" marL="457200" rtl="0" algn="l">
              <a:lnSpc>
                <a:spcPct val="100000"/>
              </a:lnSpc>
              <a:spcBef>
                <a:spcPts val="0"/>
              </a:spcBef>
              <a:spcAft>
                <a:spcPts val="0"/>
              </a:spcAft>
              <a:buSzPts val="2400"/>
              <a:buNone/>
            </a:pPr>
            <a:r>
              <a:rPr lang="en" sz="1600">
                <a:latin typeface="Helvetica Neue"/>
                <a:ea typeface="Helvetica Neue"/>
                <a:cs typeface="Helvetica Neue"/>
                <a:sym typeface="Helvetica Neue"/>
              </a:rPr>
              <a:t>We want to fix this problem!</a:t>
            </a:r>
            <a:endParaRPr sz="1600">
              <a:latin typeface="Helvetica Neue"/>
              <a:ea typeface="Helvetica Neue"/>
              <a:cs typeface="Helvetica Neue"/>
              <a:sym typeface="Helvetica Neue"/>
            </a:endParaRPr>
          </a:p>
        </p:txBody>
      </p:sp>
      <p:sp>
        <p:nvSpPr>
          <p:cNvPr id="74" name="Google Shape;74;g30ccbcf8564_1_0"/>
          <p:cNvSpPr txBox="1"/>
          <p:nvPr>
            <p:ph type="title"/>
          </p:nvPr>
        </p:nvSpPr>
        <p:spPr>
          <a:xfrm>
            <a:off x="254005" y="558802"/>
            <a:ext cx="2404500" cy="383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latin typeface="Arial"/>
                <a:ea typeface="Arial"/>
                <a:cs typeface="Arial"/>
                <a:sym typeface="Arial"/>
              </a:rPr>
              <a:t>Why This Matters</a:t>
            </a:r>
            <a:endParaRPr>
              <a:latin typeface="Arial"/>
              <a:ea typeface="Arial"/>
              <a:cs typeface="Arial"/>
              <a:sym typeface="Arial"/>
            </a:endParaRPr>
          </a:p>
        </p:txBody>
      </p:sp>
      <p:pic>
        <p:nvPicPr>
          <p:cNvPr id="75" name="Google Shape;75;g30ccbcf8564_1_0"/>
          <p:cNvPicPr preferRelativeResize="0"/>
          <p:nvPr/>
        </p:nvPicPr>
        <p:blipFill>
          <a:blip r:embed="rId3">
            <a:alphaModFix/>
          </a:blip>
          <a:stretch>
            <a:fillRect/>
          </a:stretch>
        </p:blipFill>
        <p:spPr>
          <a:xfrm>
            <a:off x="4676" y="3209050"/>
            <a:ext cx="2903150" cy="1934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5"/>
          <p:cNvSpPr/>
          <p:nvPr/>
        </p:nvSpPr>
        <p:spPr>
          <a:xfrm>
            <a:off x="1900" y="22900"/>
            <a:ext cx="9144000" cy="972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5"/>
          <p:cNvSpPr txBox="1"/>
          <p:nvPr>
            <p:ph type="title"/>
          </p:nvPr>
        </p:nvSpPr>
        <p:spPr>
          <a:xfrm>
            <a:off x="266350" y="167801"/>
            <a:ext cx="8229600" cy="448200"/>
          </a:xfrm>
          <a:prstGeom prst="rect">
            <a:avLst/>
          </a:prstGeom>
          <a:noFill/>
          <a:ln>
            <a:noFill/>
          </a:ln>
        </p:spPr>
        <p:txBody>
          <a:bodyPr anchorCtr="0" anchor="ctr" bIns="101475" lIns="101475" spcFirstLastPara="1" rIns="101475" wrap="square" tIns="101475">
            <a:normAutofit fontScale="90000"/>
          </a:bodyPr>
          <a:lstStyle/>
          <a:p>
            <a:pPr indent="0" lvl="0" marL="0" marR="0" rtl="0" algn="l">
              <a:lnSpc>
                <a:spcPct val="100000"/>
              </a:lnSpc>
              <a:spcBef>
                <a:spcPts val="0"/>
              </a:spcBef>
              <a:spcAft>
                <a:spcPts val="0"/>
              </a:spcAft>
              <a:buClr>
                <a:schemeClr val="dk1"/>
              </a:buClr>
              <a:buSzPct val="129629"/>
              <a:buFont typeface="Calibri"/>
              <a:buNone/>
            </a:pPr>
            <a:r>
              <a:rPr lang="en" sz="2400">
                <a:solidFill>
                  <a:schemeClr val="lt1"/>
                </a:solidFill>
                <a:latin typeface="Calibri"/>
                <a:ea typeface="Calibri"/>
                <a:cs typeface="Calibri"/>
                <a:sym typeface="Calibri"/>
              </a:rPr>
              <a:t>The Triton</a:t>
            </a:r>
            <a:endParaRPr>
              <a:solidFill>
                <a:schemeClr val="lt1"/>
              </a:solidFill>
            </a:endParaRPr>
          </a:p>
        </p:txBody>
      </p:sp>
      <p:sp>
        <p:nvSpPr>
          <p:cNvPr id="82" name="Google Shape;82;p5"/>
          <p:cNvSpPr txBox="1"/>
          <p:nvPr>
            <p:ph idx="4294967295" type="title"/>
          </p:nvPr>
        </p:nvSpPr>
        <p:spPr>
          <a:xfrm>
            <a:off x="460125" y="854575"/>
            <a:ext cx="8229600" cy="632100"/>
          </a:xfrm>
          <a:prstGeom prst="rect">
            <a:avLst/>
          </a:prstGeom>
          <a:noFill/>
          <a:ln>
            <a:noFill/>
          </a:ln>
        </p:spPr>
        <p:txBody>
          <a:bodyPr anchorCtr="0" anchor="ctr" bIns="101475" lIns="101475" spcFirstLastPara="1" rIns="101475" wrap="square" tIns="101475">
            <a:normAutofit fontScale="90000"/>
          </a:bodyPr>
          <a:lstStyle/>
          <a:p>
            <a:pPr indent="-342900" lvl="0" marL="342900" marR="0" rtl="0" algn="l">
              <a:lnSpc>
                <a:spcPct val="100000"/>
              </a:lnSpc>
              <a:spcBef>
                <a:spcPts val="0"/>
              </a:spcBef>
              <a:spcAft>
                <a:spcPts val="0"/>
              </a:spcAft>
              <a:buClr>
                <a:schemeClr val="dk1"/>
              </a:buClr>
              <a:buSzPct val="140000"/>
              <a:buFont typeface="Arial"/>
              <a:buNone/>
            </a:pPr>
            <a:r>
              <a:rPr b="0" lang="en" sz="2000" u="none" cap="none" strike="noStrike">
                <a:solidFill>
                  <a:schemeClr val="dk1"/>
                </a:solidFill>
                <a:latin typeface="Calibri"/>
                <a:ea typeface="Calibri"/>
                <a:cs typeface="Calibri"/>
                <a:sym typeface="Calibri"/>
              </a:rPr>
              <a:t>A </a:t>
            </a:r>
            <a:r>
              <a:rPr lang="en" sz="2000">
                <a:latin typeface="Calibri"/>
                <a:ea typeface="Calibri"/>
                <a:cs typeface="Calibri"/>
                <a:sym typeface="Calibri"/>
              </a:rPr>
              <a:t>multi-sensor system that assists the nautical navigation and docking for sailboats.</a:t>
            </a:r>
            <a:endParaRPr/>
          </a:p>
        </p:txBody>
      </p:sp>
      <p:sp>
        <p:nvSpPr>
          <p:cNvPr id="83" name="Google Shape;83;p5"/>
          <p:cNvSpPr txBox="1"/>
          <p:nvPr>
            <p:ph type="title"/>
          </p:nvPr>
        </p:nvSpPr>
        <p:spPr>
          <a:xfrm>
            <a:off x="457200" y="1344650"/>
            <a:ext cx="8229600" cy="893400"/>
          </a:xfrm>
          <a:prstGeom prst="rect">
            <a:avLst/>
          </a:prstGeom>
          <a:noFill/>
          <a:ln>
            <a:noFill/>
          </a:ln>
        </p:spPr>
        <p:txBody>
          <a:bodyPr anchorCtr="0" anchor="ctr" bIns="101475" lIns="101475" spcFirstLastPara="1" rIns="101475" wrap="square" tIns="101475">
            <a:normAutofit/>
          </a:bodyPr>
          <a:lstStyle/>
          <a:p>
            <a:pPr indent="0" lvl="0" marL="0" marR="0" rtl="0" algn="l">
              <a:lnSpc>
                <a:spcPct val="100000"/>
              </a:lnSpc>
              <a:spcBef>
                <a:spcPts val="0"/>
              </a:spcBef>
              <a:spcAft>
                <a:spcPts val="0"/>
              </a:spcAft>
              <a:buClr>
                <a:schemeClr val="dk1"/>
              </a:buClr>
              <a:buSzPts val="2800"/>
              <a:buFont typeface="Calibri"/>
              <a:buNone/>
            </a:pPr>
            <a:r>
              <a:rPr lang="en" sz="2000">
                <a:latin typeface="Calibri"/>
                <a:ea typeface="Calibri"/>
                <a:cs typeface="Calibri"/>
                <a:sym typeface="Calibri"/>
              </a:rPr>
              <a:t>Aiming to make sailboating a more beginner friendly activity, as well as help experienced boaters in their travels.</a:t>
            </a:r>
            <a:endParaRPr b="0" i="1" sz="2000" u="none" cap="none" strike="noStrike">
              <a:solidFill>
                <a:schemeClr val="dk1"/>
              </a:solidFill>
              <a:latin typeface="Calibri"/>
              <a:ea typeface="Calibri"/>
              <a:cs typeface="Calibri"/>
              <a:sym typeface="Calibri"/>
            </a:endParaRPr>
          </a:p>
        </p:txBody>
      </p:sp>
      <p:sp>
        <p:nvSpPr>
          <p:cNvPr id="84" name="Google Shape;84;p5"/>
          <p:cNvSpPr txBox="1"/>
          <p:nvPr/>
        </p:nvSpPr>
        <p:spPr>
          <a:xfrm>
            <a:off x="460120" y="2113978"/>
            <a:ext cx="8229600" cy="1197900"/>
          </a:xfrm>
          <a:prstGeom prst="rect">
            <a:avLst/>
          </a:prstGeom>
          <a:noFill/>
          <a:ln>
            <a:noFill/>
          </a:ln>
        </p:spPr>
        <p:txBody>
          <a:bodyPr anchorCtr="0" anchor="t" bIns="101475" lIns="101475" spcFirstLastPara="1" rIns="101475" wrap="square" tIns="101475">
            <a:noAutofit/>
          </a:bodyPr>
          <a:lstStyle/>
          <a:p>
            <a:pPr indent="0" lvl="0" marL="0" marR="0" rtl="0" algn="l">
              <a:lnSpc>
                <a:spcPct val="100000"/>
              </a:lnSpc>
              <a:spcBef>
                <a:spcPts val="0"/>
              </a:spcBef>
              <a:spcAft>
                <a:spcPts val="0"/>
              </a:spcAft>
              <a:buClr>
                <a:schemeClr val="dk1"/>
              </a:buClr>
              <a:buSzPts val="2000"/>
              <a:buFont typeface="Arial"/>
              <a:buNone/>
            </a:pPr>
            <a:r>
              <a:rPr b="1" lang="en" sz="2000">
                <a:solidFill>
                  <a:schemeClr val="dk1"/>
                </a:solidFill>
                <a:latin typeface="Calibri"/>
                <a:ea typeface="Calibri"/>
                <a:cs typeface="Calibri"/>
                <a:sym typeface="Calibri"/>
              </a:rPr>
              <a:t>Key Aspects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Lightweight, easy to install and easy to uninstall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Adaptable to a wide gamut of vessels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Recommends how to react in different situations</a:t>
            </a:r>
            <a:endParaRPr b="0" i="0" sz="1400" u="none" cap="none" strike="noStrike">
              <a:solidFill>
                <a:srgbClr val="000000"/>
              </a:solidFill>
              <a:latin typeface="Arial"/>
              <a:ea typeface="Arial"/>
              <a:cs typeface="Arial"/>
              <a:sym typeface="Arial"/>
            </a:endParaRPr>
          </a:p>
        </p:txBody>
      </p:sp>
      <p:sp>
        <p:nvSpPr>
          <p:cNvPr id="85" name="Google Shape;85;p5"/>
          <p:cNvSpPr txBox="1"/>
          <p:nvPr/>
        </p:nvSpPr>
        <p:spPr>
          <a:xfrm>
            <a:off x="460135" y="3311870"/>
            <a:ext cx="8229600" cy="1197900"/>
          </a:xfrm>
          <a:prstGeom prst="rect">
            <a:avLst/>
          </a:prstGeom>
          <a:noFill/>
          <a:ln>
            <a:noFill/>
          </a:ln>
        </p:spPr>
        <p:txBody>
          <a:bodyPr anchorCtr="0" anchor="t" bIns="101475" lIns="101475" spcFirstLastPara="1" rIns="101475" wrap="square" tIns="101475">
            <a:noAutofit/>
          </a:bodyPr>
          <a:lstStyle/>
          <a:p>
            <a:pPr indent="0" lvl="0" marL="0" marR="0" rtl="0" algn="l">
              <a:lnSpc>
                <a:spcPct val="100000"/>
              </a:lnSpc>
              <a:spcBef>
                <a:spcPts val="0"/>
              </a:spcBef>
              <a:spcAft>
                <a:spcPts val="0"/>
              </a:spcAft>
              <a:buClr>
                <a:schemeClr val="dk1"/>
              </a:buClr>
              <a:buSzPts val="2000"/>
              <a:buFont typeface="Arial"/>
              <a:buNone/>
            </a:pPr>
            <a:r>
              <a:rPr b="1" i="0" lang="en" sz="2000" u="none" cap="none" strike="noStrike">
                <a:solidFill>
                  <a:schemeClr val="dk1"/>
                </a:solidFill>
                <a:latin typeface="Calibri"/>
                <a:ea typeface="Calibri"/>
                <a:cs typeface="Calibri"/>
                <a:sym typeface="Calibri"/>
              </a:rPr>
              <a:t>Technolog</a:t>
            </a:r>
            <a:r>
              <a:rPr b="1" lang="en" sz="2000">
                <a:solidFill>
                  <a:schemeClr val="dk1"/>
                </a:solidFill>
                <a:latin typeface="Calibri"/>
                <a:ea typeface="Calibri"/>
                <a:cs typeface="Calibri"/>
                <a:sym typeface="Calibri"/>
              </a:rPr>
              <a:t>ical</a:t>
            </a:r>
            <a:r>
              <a:rPr b="1" i="0" lang="en" sz="2000" u="none" cap="none" strike="noStrike">
                <a:solidFill>
                  <a:schemeClr val="dk1"/>
                </a:solidFill>
                <a:latin typeface="Calibri"/>
                <a:ea typeface="Calibri"/>
                <a:cs typeface="Calibri"/>
                <a:sym typeface="Calibri"/>
              </a:rPr>
              <a:t> Solution</a:t>
            </a:r>
            <a:r>
              <a:rPr b="1" lang="en" sz="2000">
                <a:solidFill>
                  <a:schemeClr val="dk1"/>
                </a:solidFill>
                <a:latin typeface="Calibri"/>
                <a:ea typeface="Calibri"/>
                <a:cs typeface="Calibri"/>
                <a:sym typeface="Calibri"/>
              </a:rPr>
              <a: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BLE: For communication between main object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GPS: For routing and forecasting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0"/>
                  </a:ext>
                </a:extLst>
              </a:rPr>
              <a:t>Anemometer: For monitoring wind speed</a:t>
            </a:r>
            <a:endParaRPr b="0" i="0" sz="20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Radar/LiDAR: For object detection</a:t>
            </a:r>
            <a:endParaRPr sz="2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2a45475e6c2_0_29"/>
          <p:cNvSpPr txBox="1"/>
          <p:nvPr/>
        </p:nvSpPr>
        <p:spPr>
          <a:xfrm>
            <a:off x="-247725" y="886075"/>
            <a:ext cx="3423000" cy="2959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Char char="•"/>
            </a:pPr>
            <a:r>
              <a:rPr lang="en" sz="1600">
                <a:solidFill>
                  <a:schemeClr val="lt1"/>
                </a:solidFill>
                <a:latin typeface="Calibri"/>
                <a:ea typeface="Calibri"/>
                <a:cs typeface="Calibri"/>
                <a:sym typeface="Calibri"/>
              </a:rPr>
              <a:t>Software</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iOS Application (Swift)</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Embedded Software (C)</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Char char="•"/>
            </a:pPr>
            <a:r>
              <a:rPr lang="en" sz="1600">
                <a:solidFill>
                  <a:schemeClr val="lt1"/>
                </a:solidFill>
                <a:latin typeface="Calibri"/>
                <a:ea typeface="Calibri"/>
                <a:cs typeface="Calibri"/>
                <a:sym typeface="Calibri"/>
              </a:rPr>
              <a:t>Hardware</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Bluetooth Low Energy</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Temperature sensors</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Anemometer</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Radar</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Telescoping pole</a:t>
            </a:r>
            <a:endParaRPr sz="1600">
              <a:solidFill>
                <a:schemeClr val="lt1"/>
              </a:solidFill>
              <a:latin typeface="Calibri"/>
              <a:ea typeface="Calibri"/>
              <a:cs typeface="Calibri"/>
              <a:sym typeface="Calibri"/>
            </a:endParaRPr>
          </a:p>
        </p:txBody>
      </p:sp>
      <p:sp>
        <p:nvSpPr>
          <p:cNvPr id="91" name="Google Shape;91;g2a45475e6c2_0_29"/>
          <p:cNvSpPr txBox="1"/>
          <p:nvPr/>
        </p:nvSpPr>
        <p:spPr>
          <a:xfrm>
            <a:off x="3175275" y="126325"/>
            <a:ext cx="5544000" cy="4479000"/>
          </a:xfrm>
          <a:prstGeom prst="rect">
            <a:avLst/>
          </a:prstGeom>
          <a:noFill/>
          <a:ln>
            <a:noFill/>
          </a:ln>
        </p:spPr>
        <p:txBody>
          <a:bodyPr anchorCtr="0" anchor="t" bIns="45700" lIns="91425" spcFirstLastPara="1" rIns="91425" wrap="square" tIns="45700">
            <a:spAutoFit/>
          </a:bodyPr>
          <a:lstStyle/>
          <a:p>
            <a:pPr indent="0" lvl="0" marL="457200" marR="0" rtl="0" algn="ctr">
              <a:lnSpc>
                <a:spcPct val="150000"/>
              </a:lnSpc>
              <a:spcBef>
                <a:spcPts val="0"/>
              </a:spcBef>
              <a:spcAft>
                <a:spcPts val="0"/>
              </a:spcAft>
              <a:buNone/>
            </a:pPr>
            <a:r>
              <a:rPr b="1" lang="en" sz="1800">
                <a:solidFill>
                  <a:schemeClr val="dk1"/>
                </a:solidFill>
                <a:latin typeface="Calibri"/>
                <a:ea typeface="Calibri"/>
                <a:cs typeface="Calibri"/>
                <a:sym typeface="Calibri"/>
              </a:rPr>
              <a:t>General Metrics:</a:t>
            </a:r>
            <a:endParaRPr b="1" sz="1800">
              <a:solidFill>
                <a:schemeClr val="dk1"/>
              </a:solidFill>
              <a:latin typeface="Calibri"/>
              <a:ea typeface="Calibri"/>
              <a:cs typeface="Calibri"/>
              <a:sym typeface="Calibri"/>
            </a:endParaRPr>
          </a:p>
          <a:p>
            <a:pPr indent="-330200" lvl="0" marL="457200" marR="0" rtl="0" algn="l">
              <a:lnSpc>
                <a:spcPct val="150000"/>
              </a:lnSpc>
              <a:spcBef>
                <a:spcPts val="0"/>
              </a:spcBef>
              <a:spcAft>
                <a:spcPts val="0"/>
              </a:spcAft>
              <a:buClr>
                <a:schemeClr val="dk1"/>
              </a:buClr>
              <a:buSzPts val="1600"/>
              <a:buFont typeface="Calibri"/>
              <a:buChar char="●"/>
            </a:pPr>
            <a:r>
              <a:rPr b="0" i="0" lang="en" sz="1600" u="none" cap="none" strike="noStrike">
                <a:solidFill>
                  <a:schemeClr val="dk1"/>
                </a:solidFill>
                <a:latin typeface="Calibri"/>
                <a:ea typeface="Calibri"/>
                <a:cs typeface="Calibri"/>
                <a:sym typeface="Calibri"/>
              </a:rPr>
              <a:t>The system will collect wind speed, speed over ground, and speed through water.</a:t>
            </a:r>
            <a:endParaRPr b="0" i="0" sz="1600" u="none" cap="none" strike="noStrike">
              <a:solidFill>
                <a:schemeClr val="dk1"/>
              </a:solidFill>
              <a:latin typeface="Calibri"/>
              <a:ea typeface="Calibri"/>
              <a:cs typeface="Calibri"/>
              <a:sym typeface="Calibri"/>
            </a:endParaRPr>
          </a:p>
          <a:p>
            <a:pPr indent="-330200" lvl="0" marL="457200" marR="0" rtl="0" algn="l">
              <a:lnSpc>
                <a:spcPct val="150000"/>
              </a:lnSpc>
              <a:spcBef>
                <a:spcPts val="0"/>
              </a:spcBef>
              <a:spcAft>
                <a:spcPts val="0"/>
              </a:spcAft>
              <a:buClr>
                <a:schemeClr val="dk1"/>
              </a:buClr>
              <a:buSzPts val="1600"/>
              <a:buFont typeface="Calibri"/>
              <a:buChar char="●"/>
            </a:pPr>
            <a:r>
              <a:rPr b="0" i="0" lang="en" sz="1600" u="none" cap="none" strike="noStrike">
                <a:solidFill>
                  <a:schemeClr val="dk1"/>
                </a:solidFill>
                <a:latin typeface="Calibri"/>
                <a:ea typeface="Calibri"/>
                <a:cs typeface="Calibri"/>
                <a:sym typeface="Calibri"/>
              </a:rPr>
              <a:t>The proximity sensors will detect obstacles between one (1) meter and  five (5) meters, </a:t>
            </a:r>
            <a:r>
              <a:rPr lang="en" sz="1600">
                <a:solidFill>
                  <a:schemeClr val="dk1"/>
                </a:solidFill>
                <a:latin typeface="Calibri"/>
                <a:ea typeface="Calibri"/>
                <a:cs typeface="Calibri"/>
                <a:sym typeface="Calibri"/>
              </a:rPr>
              <a:t>or</a:t>
            </a:r>
            <a:r>
              <a:rPr b="0" i="0" lang="en" sz="1600" u="none" cap="none" strike="noStrike">
                <a:solidFill>
                  <a:schemeClr val="dk1"/>
                </a:solidFill>
                <a:latin typeface="Calibri"/>
                <a:ea typeface="Calibri"/>
                <a:cs typeface="Calibri"/>
                <a:sym typeface="Calibri"/>
              </a:rPr>
              <a:t> five (5) to one hundred (100) meters away.</a:t>
            </a:r>
            <a:endParaRPr b="0" i="0" sz="1600" u="none" cap="none" strike="noStrike">
              <a:solidFill>
                <a:schemeClr val="dk1"/>
              </a:solidFill>
              <a:latin typeface="Calibri"/>
              <a:ea typeface="Calibri"/>
              <a:cs typeface="Calibri"/>
              <a:sym typeface="Calibri"/>
            </a:endParaRPr>
          </a:p>
          <a:p>
            <a:pPr indent="-330200" lvl="0" marL="457200" marR="0" rtl="0" algn="l">
              <a:lnSpc>
                <a:spcPct val="150000"/>
              </a:lnSpc>
              <a:spcBef>
                <a:spcPts val="0"/>
              </a:spcBef>
              <a:spcAft>
                <a:spcPts val="0"/>
              </a:spcAft>
              <a:buClr>
                <a:schemeClr val="dk1"/>
              </a:buClr>
              <a:buSzPts val="1600"/>
              <a:buFont typeface="Calibri"/>
              <a:buChar char="●"/>
            </a:pPr>
            <a:r>
              <a:rPr b="0" i="0" lang="en" sz="1600" u="none" cap="none" strike="noStrike">
                <a:solidFill>
                  <a:schemeClr val="dk1"/>
                </a:solidFill>
                <a:latin typeface="Calibri"/>
                <a:ea typeface="Calibri"/>
                <a:cs typeface="Calibri"/>
                <a:sym typeface="Calibri"/>
              </a:rPr>
              <a:t>All physical components of the system, including housing, will weigh less than twenty-five (25) pounds in total.</a:t>
            </a:r>
            <a:endParaRPr b="0" i="0" sz="1600" u="none" cap="none" strike="noStrike">
              <a:solidFill>
                <a:schemeClr val="dk1"/>
              </a:solidFill>
              <a:latin typeface="Calibri"/>
              <a:ea typeface="Calibri"/>
              <a:cs typeface="Calibri"/>
              <a:sym typeface="Calibri"/>
            </a:endParaRPr>
          </a:p>
          <a:p>
            <a:pPr indent="-330200" lvl="0" marL="457200" marR="0" rtl="0" algn="l">
              <a:lnSpc>
                <a:spcPct val="150000"/>
              </a:lnSpc>
              <a:spcBef>
                <a:spcPts val="0"/>
              </a:spcBef>
              <a:spcAft>
                <a:spcPts val="0"/>
              </a:spcAft>
              <a:buClr>
                <a:schemeClr val="dk1"/>
              </a:buClr>
              <a:buSzPts val="1600"/>
              <a:buFont typeface="Calibri"/>
              <a:buChar char="●"/>
            </a:pPr>
            <a:r>
              <a:rPr b="0" i="0" lang="en" sz="1600" u="none" cap="none" strike="noStrike">
                <a:solidFill>
                  <a:schemeClr val="dk1"/>
                </a:solidFill>
                <a:latin typeface="Calibri"/>
                <a:ea typeface="Calibri"/>
                <a:cs typeface="Calibri"/>
                <a:sym typeface="Calibri"/>
              </a:rPr>
              <a:t>The battery for the system will last at least three (3) days on a full charge.</a:t>
            </a:r>
            <a:endParaRPr b="0" i="0" sz="1600" u="none" cap="none" strike="noStrike">
              <a:solidFill>
                <a:schemeClr val="dk1"/>
              </a:solidFill>
              <a:latin typeface="Calibri"/>
              <a:ea typeface="Calibri"/>
              <a:cs typeface="Calibri"/>
              <a:sym typeface="Calibri"/>
            </a:endParaRPr>
          </a:p>
          <a:p>
            <a:pPr indent="-330200" lvl="0" marL="457200" marR="0" rtl="0" algn="l">
              <a:lnSpc>
                <a:spcPct val="150000"/>
              </a:lnSpc>
              <a:spcBef>
                <a:spcPts val="0"/>
              </a:spcBef>
              <a:spcAft>
                <a:spcPts val="0"/>
              </a:spcAft>
              <a:buClr>
                <a:schemeClr val="dk1"/>
              </a:buClr>
              <a:buSzPts val="1600"/>
              <a:buFont typeface="Calibri"/>
              <a:buChar char="●"/>
            </a:pPr>
            <a:r>
              <a:rPr b="0" i="0" lang="en" sz="1600" u="none" cap="none" strike="noStrike">
                <a:solidFill>
                  <a:schemeClr val="dk1"/>
                </a:solidFill>
                <a:latin typeface="Calibri"/>
                <a:ea typeface="Calibri"/>
                <a:cs typeface="Calibri"/>
                <a:sym typeface="Calibri"/>
              </a:rPr>
              <a:t>Weatherproof rating of at least IP68.</a:t>
            </a:r>
            <a:endParaRPr b="0" i="0" sz="1600" u="none" cap="none" strike="noStrike">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b="0" i="0" lang="en" sz="1600" u="none" cap="none" strike="noStrike">
                <a:solidFill>
                  <a:schemeClr val="dk1"/>
                </a:solidFill>
                <a:latin typeface="Calibri"/>
                <a:ea typeface="Calibri"/>
                <a:cs typeface="Calibri"/>
                <a:sym typeface="Calibri"/>
              </a:rPr>
              <a:t>GPS accurate within twenty (20) meters</a:t>
            </a:r>
            <a:r>
              <a:rPr b="0" i="0" lang="en"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92" name="Google Shape;92;g2a45475e6c2_0_29"/>
          <p:cNvSpPr txBox="1"/>
          <p:nvPr>
            <p:ph idx="4294967295" type="title"/>
          </p:nvPr>
        </p:nvSpPr>
        <p:spPr>
          <a:xfrm>
            <a:off x="55275" y="126325"/>
            <a:ext cx="2817000" cy="501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2800"/>
              <a:buFont typeface="Calibri"/>
              <a:buNone/>
            </a:pPr>
            <a:r>
              <a:rPr b="0" i="0" lang="en" sz="2400" u="none" cap="none" strike="noStrike">
                <a:solidFill>
                  <a:schemeClr val="lt1"/>
                </a:solidFill>
                <a:latin typeface="Calibri"/>
                <a:ea typeface="Calibri"/>
                <a:cs typeface="Calibri"/>
                <a:sym typeface="Calibri"/>
              </a:rPr>
              <a:t>System (HW and SW)</a:t>
            </a:r>
            <a:endParaRPr b="0" i="0" sz="24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0ccbcf8564_0_0"/>
          <p:cNvSpPr/>
          <p:nvPr/>
        </p:nvSpPr>
        <p:spPr>
          <a:xfrm>
            <a:off x="1900" y="22900"/>
            <a:ext cx="9144000" cy="972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g30ccbcf8564_0_0"/>
          <p:cNvSpPr txBox="1"/>
          <p:nvPr>
            <p:ph idx="4294967295" type="title"/>
          </p:nvPr>
        </p:nvSpPr>
        <p:spPr>
          <a:xfrm>
            <a:off x="457200" y="212850"/>
            <a:ext cx="8229600" cy="501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2800"/>
              <a:buFont typeface="Calibri"/>
              <a:buNone/>
            </a:pPr>
            <a:r>
              <a:rPr lang="en" sz="2400">
                <a:solidFill>
                  <a:schemeClr val="lt1"/>
                </a:solidFill>
                <a:latin typeface="Calibri"/>
                <a:ea typeface="Calibri"/>
                <a:cs typeface="Calibri"/>
                <a:sym typeface="Calibri"/>
              </a:rPr>
              <a:t>Hardware Implementation</a:t>
            </a:r>
            <a:endParaRPr b="0" i="0" sz="2400" u="none" cap="none" strike="noStrike">
              <a:solidFill>
                <a:schemeClr val="lt1"/>
              </a:solidFill>
              <a:latin typeface="Calibri"/>
              <a:ea typeface="Calibri"/>
              <a:cs typeface="Calibri"/>
              <a:sym typeface="Calibri"/>
            </a:endParaRPr>
          </a:p>
        </p:txBody>
      </p:sp>
      <p:pic>
        <p:nvPicPr>
          <p:cNvPr id="99" name="Google Shape;99;g30ccbcf8564_0_0"/>
          <p:cNvPicPr preferRelativeResize="0"/>
          <p:nvPr/>
        </p:nvPicPr>
        <p:blipFill>
          <a:blip r:embed="rId3">
            <a:alphaModFix/>
          </a:blip>
          <a:stretch>
            <a:fillRect/>
          </a:stretch>
        </p:blipFill>
        <p:spPr>
          <a:xfrm>
            <a:off x="748275" y="1072150"/>
            <a:ext cx="1372186" cy="3561099"/>
          </a:xfrm>
          <a:prstGeom prst="rect">
            <a:avLst/>
          </a:prstGeom>
          <a:noFill/>
          <a:ln>
            <a:noFill/>
          </a:ln>
        </p:spPr>
      </p:pic>
      <p:pic>
        <p:nvPicPr>
          <p:cNvPr id="100" name="Google Shape;100;g30ccbcf8564_0_0"/>
          <p:cNvPicPr preferRelativeResize="0"/>
          <p:nvPr/>
        </p:nvPicPr>
        <p:blipFill>
          <a:blip r:embed="rId4">
            <a:alphaModFix/>
          </a:blip>
          <a:stretch>
            <a:fillRect/>
          </a:stretch>
        </p:blipFill>
        <p:spPr>
          <a:xfrm>
            <a:off x="3542975" y="1146313"/>
            <a:ext cx="2058026" cy="2850874"/>
          </a:xfrm>
          <a:prstGeom prst="rect">
            <a:avLst/>
          </a:prstGeom>
          <a:noFill/>
          <a:ln>
            <a:noFill/>
          </a:ln>
        </p:spPr>
      </p:pic>
      <p:pic>
        <p:nvPicPr>
          <p:cNvPr id="101" name="Google Shape;101;g30ccbcf8564_0_0"/>
          <p:cNvPicPr preferRelativeResize="0"/>
          <p:nvPr/>
        </p:nvPicPr>
        <p:blipFill>
          <a:blip r:embed="rId5">
            <a:alphaModFix/>
          </a:blip>
          <a:stretch>
            <a:fillRect/>
          </a:stretch>
        </p:blipFill>
        <p:spPr>
          <a:xfrm>
            <a:off x="6428300" y="1378663"/>
            <a:ext cx="2258500" cy="2386174"/>
          </a:xfrm>
          <a:prstGeom prst="rect">
            <a:avLst/>
          </a:prstGeom>
          <a:noFill/>
          <a:ln>
            <a:noFill/>
          </a:ln>
        </p:spPr>
      </p:pic>
      <p:sp>
        <p:nvSpPr>
          <p:cNvPr id="102" name="Google Shape;102;g30ccbcf8564_0_0"/>
          <p:cNvSpPr txBox="1"/>
          <p:nvPr/>
        </p:nvSpPr>
        <p:spPr>
          <a:xfrm>
            <a:off x="651600" y="1181000"/>
            <a:ext cx="7037100" cy="4617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3"/>
          <p:cNvSpPr/>
          <p:nvPr/>
        </p:nvSpPr>
        <p:spPr>
          <a:xfrm>
            <a:off x="1900" y="22900"/>
            <a:ext cx="9144000" cy="972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3"/>
          <p:cNvSpPr txBox="1"/>
          <p:nvPr>
            <p:ph idx="4294967295" type="title"/>
          </p:nvPr>
        </p:nvSpPr>
        <p:spPr>
          <a:xfrm>
            <a:off x="457200" y="246425"/>
            <a:ext cx="8229600" cy="501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2800"/>
              <a:buFont typeface="Calibri"/>
              <a:buNone/>
            </a:pPr>
            <a:r>
              <a:rPr lang="en" sz="2400">
                <a:solidFill>
                  <a:schemeClr val="lt1"/>
                </a:solidFill>
                <a:latin typeface="Calibri"/>
                <a:ea typeface="Calibri"/>
                <a:cs typeface="Calibri"/>
                <a:sym typeface="Calibri"/>
              </a:rPr>
              <a:t>System</a:t>
            </a:r>
            <a:r>
              <a:rPr lang="en" sz="2400">
                <a:solidFill>
                  <a:schemeClr val="lt1"/>
                </a:solidFill>
                <a:latin typeface="Calibri"/>
                <a:ea typeface="Calibri"/>
                <a:cs typeface="Calibri"/>
                <a:sym typeface="Calibri"/>
              </a:rPr>
              <a:t> Implementation</a:t>
            </a:r>
            <a:endParaRPr b="0" i="0" sz="2400" u="none" cap="none" strike="noStrike">
              <a:solidFill>
                <a:schemeClr val="lt1"/>
              </a:solidFill>
              <a:latin typeface="Calibri"/>
              <a:ea typeface="Calibri"/>
              <a:cs typeface="Calibri"/>
              <a:sym typeface="Calibri"/>
            </a:endParaRPr>
          </a:p>
        </p:txBody>
      </p:sp>
      <p:pic>
        <p:nvPicPr>
          <p:cNvPr id="109" name="Google Shape;109;p3"/>
          <p:cNvPicPr preferRelativeResize="0"/>
          <p:nvPr/>
        </p:nvPicPr>
        <p:blipFill rotWithShape="1">
          <a:blip r:embed="rId3">
            <a:alphaModFix/>
          </a:blip>
          <a:srcRect b="0" l="0" r="0" t="0"/>
          <a:stretch/>
        </p:blipFill>
        <p:spPr>
          <a:xfrm>
            <a:off x="5050100" y="1335500"/>
            <a:ext cx="4093899" cy="2978399"/>
          </a:xfrm>
          <a:prstGeom prst="rect">
            <a:avLst/>
          </a:prstGeom>
          <a:noFill/>
          <a:ln>
            <a:noFill/>
          </a:ln>
        </p:spPr>
      </p:pic>
      <p:pic>
        <p:nvPicPr>
          <p:cNvPr id="110" name="Google Shape;110;p3"/>
          <p:cNvPicPr preferRelativeResize="0"/>
          <p:nvPr/>
        </p:nvPicPr>
        <p:blipFill rotWithShape="1">
          <a:blip r:embed="rId4">
            <a:alphaModFix/>
          </a:blip>
          <a:srcRect b="0" l="0" r="0" t="0"/>
          <a:stretch/>
        </p:blipFill>
        <p:spPr>
          <a:xfrm>
            <a:off x="457200" y="1102825"/>
            <a:ext cx="3804000" cy="3657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4"/>
          <p:cNvPicPr preferRelativeResize="0"/>
          <p:nvPr/>
        </p:nvPicPr>
        <p:blipFill rotWithShape="1">
          <a:blip r:embed="rId3">
            <a:alphaModFix/>
          </a:blip>
          <a:srcRect b="-12000" l="1090" r="-1090" t="12000"/>
          <a:stretch/>
        </p:blipFill>
        <p:spPr>
          <a:xfrm>
            <a:off x="2923850" y="590350"/>
            <a:ext cx="5574024" cy="4551274"/>
          </a:xfrm>
          <a:prstGeom prst="rect">
            <a:avLst/>
          </a:prstGeom>
          <a:noFill/>
          <a:ln>
            <a:noFill/>
          </a:ln>
        </p:spPr>
      </p:pic>
      <p:pic>
        <p:nvPicPr>
          <p:cNvPr id="117" name="Google Shape;117;p4"/>
          <p:cNvPicPr preferRelativeResize="0"/>
          <p:nvPr/>
        </p:nvPicPr>
        <p:blipFill>
          <a:blip r:embed="rId4">
            <a:alphaModFix/>
          </a:blip>
          <a:stretch>
            <a:fillRect/>
          </a:stretch>
        </p:blipFill>
        <p:spPr>
          <a:xfrm>
            <a:off x="564974" y="1977800"/>
            <a:ext cx="2175675" cy="2807300"/>
          </a:xfrm>
          <a:prstGeom prst="rect">
            <a:avLst/>
          </a:prstGeom>
          <a:noFill/>
          <a:ln>
            <a:noFill/>
          </a:ln>
        </p:spPr>
      </p:pic>
      <p:sp>
        <p:nvSpPr>
          <p:cNvPr id="118" name="Google Shape;118;p4"/>
          <p:cNvSpPr txBox="1"/>
          <p:nvPr>
            <p:ph idx="1" type="body"/>
          </p:nvPr>
        </p:nvSpPr>
        <p:spPr>
          <a:xfrm>
            <a:off x="3004775" y="-868225"/>
            <a:ext cx="5893200" cy="2420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300">
                <a:latin typeface="Helvetica Neue"/>
                <a:ea typeface="Helvetica Neue"/>
                <a:cs typeface="Helvetica Neue"/>
                <a:sym typeface="Helvetica Neue"/>
              </a:rPr>
              <a:t>How would you be able to use your Triton?</a:t>
            </a:r>
            <a:endParaRPr sz="2300">
              <a:latin typeface="Helvetica Neue"/>
              <a:ea typeface="Helvetica Neue"/>
              <a:cs typeface="Helvetica Neue"/>
              <a:sym typeface="Helvetica Neue"/>
            </a:endParaRPr>
          </a:p>
        </p:txBody>
      </p:sp>
      <p:sp>
        <p:nvSpPr>
          <p:cNvPr id="119" name="Google Shape;119;p4"/>
          <p:cNvSpPr txBox="1"/>
          <p:nvPr>
            <p:ph type="title"/>
          </p:nvPr>
        </p:nvSpPr>
        <p:spPr>
          <a:xfrm>
            <a:off x="33400" y="590350"/>
            <a:ext cx="2845800" cy="11595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latin typeface="Arial"/>
                <a:ea typeface="Arial"/>
                <a:cs typeface="Arial"/>
                <a:sym typeface="Arial"/>
              </a:rPr>
              <a:t>The User </a:t>
            </a:r>
            <a:endParaRPr>
              <a:latin typeface="Arial"/>
              <a:ea typeface="Arial"/>
              <a:cs typeface="Arial"/>
              <a:sym typeface="Arial"/>
            </a:endParaRPr>
          </a:p>
          <a:p>
            <a:pPr indent="0" lvl="0" marL="0" rtl="0" algn="ctr">
              <a:lnSpc>
                <a:spcPct val="100000"/>
              </a:lnSpc>
              <a:spcBef>
                <a:spcPts val="0"/>
              </a:spcBef>
              <a:spcAft>
                <a:spcPts val="0"/>
              </a:spcAft>
              <a:buSzPts val="2800"/>
              <a:buNone/>
            </a:pPr>
            <a:r>
              <a:rPr lang="en">
                <a:latin typeface="Arial"/>
                <a:ea typeface="Arial"/>
                <a:cs typeface="Arial"/>
                <a:sym typeface="Arial"/>
              </a:rPr>
              <a:t>Story</a:t>
            </a:r>
            <a:endParaRPr>
              <a:latin typeface="Arial"/>
              <a:ea typeface="Arial"/>
              <a:cs typeface="Arial"/>
              <a:sym typeface="Arial"/>
            </a:endParaRPr>
          </a:p>
        </p:txBody>
      </p:sp>
      <p:sp>
        <p:nvSpPr>
          <p:cNvPr id="120" name="Google Shape;120;p4"/>
          <p:cNvSpPr txBox="1"/>
          <p:nvPr/>
        </p:nvSpPr>
        <p:spPr>
          <a:xfrm>
            <a:off x="6576800" y="2074575"/>
            <a:ext cx="2643300" cy="1335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AutoNum type="arabicPeriod"/>
            </a:pPr>
            <a:r>
              <a:rPr lang="en" sz="1600">
                <a:solidFill>
                  <a:schemeClr val="dk2"/>
                </a:solidFill>
              </a:rPr>
              <a:t>Anemometer (Wind Speed)</a:t>
            </a:r>
            <a:endParaRPr sz="1600">
              <a:solidFill>
                <a:schemeClr val="dk2"/>
              </a:solidFill>
            </a:endParaRPr>
          </a:p>
          <a:p>
            <a:pPr indent="-330200" lvl="0" marL="457200" rtl="0" algn="l">
              <a:spcBef>
                <a:spcPts val="0"/>
              </a:spcBef>
              <a:spcAft>
                <a:spcPts val="0"/>
              </a:spcAft>
              <a:buClr>
                <a:schemeClr val="dk2"/>
              </a:buClr>
              <a:buSzPts val="1600"/>
              <a:buAutoNum type="arabicPeriod"/>
            </a:pPr>
            <a:r>
              <a:rPr lang="en" sz="1600">
                <a:solidFill>
                  <a:schemeClr val="dk2"/>
                </a:solidFill>
              </a:rPr>
              <a:t>Pitot Tube (STW)</a:t>
            </a:r>
            <a:endParaRPr sz="1600">
              <a:solidFill>
                <a:schemeClr val="dk2"/>
              </a:solidFill>
            </a:endParaRPr>
          </a:p>
          <a:p>
            <a:pPr indent="0" lvl="0" marL="0" rtl="0" algn="l">
              <a:spcBef>
                <a:spcPts val="0"/>
              </a:spcBef>
              <a:spcAft>
                <a:spcPts val="0"/>
              </a:spcAft>
              <a:buNone/>
            </a:pPr>
            <a:r>
              <a:rPr lang="en" sz="1600">
                <a:solidFill>
                  <a:schemeClr val="dk2"/>
                </a:solidFill>
              </a:rPr>
              <a:t> 3,4,5.  LIDAR (Docking)</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0ccbcf8564_0_3"/>
          <p:cNvSpPr/>
          <p:nvPr/>
        </p:nvSpPr>
        <p:spPr>
          <a:xfrm>
            <a:off x="1900" y="22900"/>
            <a:ext cx="9144000" cy="972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g30ccbcf8564_0_3"/>
          <p:cNvSpPr txBox="1"/>
          <p:nvPr>
            <p:ph type="title"/>
          </p:nvPr>
        </p:nvSpPr>
        <p:spPr>
          <a:xfrm>
            <a:off x="313600" y="223000"/>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111"/>
              <a:buNone/>
            </a:pPr>
            <a:r>
              <a:rPr lang="en" sz="2400">
                <a:solidFill>
                  <a:schemeClr val="lt1"/>
                </a:solidFill>
                <a:latin typeface="Calibri"/>
                <a:ea typeface="Calibri"/>
                <a:cs typeface="Calibri"/>
                <a:sym typeface="Calibri"/>
              </a:rPr>
              <a:t>Reach Goals</a:t>
            </a:r>
            <a:endParaRPr sz="2400">
              <a:solidFill>
                <a:schemeClr val="lt1"/>
              </a:solidFill>
              <a:latin typeface="Calibri"/>
              <a:ea typeface="Calibri"/>
              <a:cs typeface="Calibri"/>
              <a:sym typeface="Calibri"/>
            </a:endParaRPr>
          </a:p>
        </p:txBody>
      </p:sp>
      <p:sp>
        <p:nvSpPr>
          <p:cNvPr id="127" name="Google Shape;127;g30ccbcf8564_0_3"/>
          <p:cNvSpPr txBox="1"/>
          <p:nvPr>
            <p:ph idx="1" type="body"/>
          </p:nvPr>
        </p:nvSpPr>
        <p:spPr>
          <a:xfrm>
            <a:off x="311700" y="1152475"/>
            <a:ext cx="8435700" cy="3416400"/>
          </a:xfrm>
          <a:prstGeom prst="rect">
            <a:avLst/>
          </a:prstGeom>
          <a:noFill/>
          <a:ln>
            <a:noFill/>
          </a:ln>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Make the app platform agnostic</a:t>
            </a:r>
            <a:endParaRPr sz="20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Create a custom PCB for the product</a:t>
            </a:r>
            <a:endParaRPr sz="20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Offload data to the cloud for users to keep past trips accessible</a:t>
            </a:r>
            <a:endParaRPr sz="20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Have our system integrated with autonomous sailing group</a:t>
            </a:r>
            <a:endParaRPr sz="2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0d37c2cb1c_0_6"/>
          <p:cNvSpPr txBox="1"/>
          <p:nvPr>
            <p:ph type="title"/>
          </p:nvPr>
        </p:nvSpPr>
        <p:spPr>
          <a:xfrm>
            <a:off x="50" y="450150"/>
            <a:ext cx="91440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Any comments or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